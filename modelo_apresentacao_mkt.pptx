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9"/>
  </p:notesMasterIdLst>
  <p:sldIdLst>
    <p:sldId id="256" r:id="rId2"/>
    <p:sldId id="262" r:id="rId3"/>
    <p:sldId id="2147469504" r:id="rId15"/>
    <p:sldId id="273" r:id="rId16"/>
    <p:sldId id="270" r:id="rId17"/>
    <p:sldId id="2147469499" r:id="rId18"/>
  </p:sldIdLst>
  <p:sldSz cx="18288000" cy="10287000"/>
  <p:notesSz cx="7104063" cy="10234613"/>
  <p:embeddedFontLst>
    <p:embeddedFont>
      <p:font typeface="Montserrat" panose="00000500000000000000" pitchFamily="2" charset="0"/>
      <p:regular r:id="rId20"/>
      <p:bold r:id="rId21"/>
      <p:italic r:id="rId22"/>
      <p:boldItalic r:id="rId23"/>
    </p:embeddedFont>
    <p:embeddedFont>
      <p:font typeface="Montserrat Bold" panose="00000800000000000000" charset="0"/>
      <p:regular r:id="rId24"/>
      <p:bold r:id="rId25"/>
    </p:embeddedFont>
    <p:embeddedFont>
      <p:font typeface="Montserrat Bold Italics" panose="020B0604020202020204" charset="0"/>
      <p:regular r:id="rId26"/>
      <p:bold r:id="rId27"/>
      <p:italic r:id="rId28"/>
      <p:boldItalic r:id="rId29"/>
    </p:embeddedFont>
    <p:embeddedFont>
      <p:font typeface="Open Sans" panose="020B0606030504020204" pitchFamily="34" charset="0"/>
      <p:regular r:id="rId30"/>
      <p:bold r:id="rId31"/>
      <p:italic r:id="rId32"/>
      <p:boldItalic r:id="rId33"/>
    </p:embeddedFont>
    <p:embeddedFont>
      <p:font typeface="Open Sans Bold" panose="020B0806030504020204" charset="0"/>
      <p:regular r:id="rId34"/>
      <p:bold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B4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 autoAdjust="0"/>
    <p:restoredTop sz="86121" autoAdjust="0"/>
  </p:normalViewPr>
  <p:slideViewPr>
    <p:cSldViewPr>
      <p:cViewPr varScale="1">
        <p:scale>
          <a:sx n="47" d="100"/>
          <a:sy n="47" d="100"/>
        </p:scale>
        <p:origin x="1138" y="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9" Type="http://schemas.openxmlformats.org/officeDocument/2006/relationships/tableStyles" Target="tableStyles.xml"/><Relationship Id="rId21" Type="http://schemas.openxmlformats.org/officeDocument/2006/relationships/font" Target="fonts/font2.fntdata"/><Relationship Id="rId34" Type="http://schemas.openxmlformats.org/officeDocument/2006/relationships/font" Target="fonts/font15.fntdata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viewProps" Target="viewProps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presProps" Target="presProps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font" Target="fonts/font16.fntdata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0CFDFFE3-FDFF-4C85-B991-401E46F8720A}" type="datetimeFigureOut">
              <a:rPr lang="pt-BR" smtClean="0"/>
              <a:t>09/07/2026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CFFA0073-7638-47EA-9AFC-ADDA54E7417A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71612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FA0073-7638-47EA-9AFC-ADDA54E7417A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979554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Ok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FA0073-7638-47EA-9AFC-ADDA54E7417A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71368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Ok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FA0073-7638-47EA-9AFC-ADDA54E7417A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00996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>
                <a:effectLst/>
              </a:rPr>
              <a:t>margem EBITDA apresentou resultado acima do orçado. Entre os principais fatores que contribuíram para esse desempenho, destacam-se as despesas operacionais, que ficaram abaixo do previsto em razão de um controle mais rigoroso dos gastos, bem como as despesas variáveis. No entanto, é importante ressaltar que a receita registrou desempenho inferior ao orçado, com uma queda de aproximadamente 9,3%. Diante disso, a tendência natural é que ocorra uma redução proporcional nessa linha da despesa variável</a:t>
            </a:r>
          </a:p>
          <a:p>
            <a:endParaRPr lang="pt-BR" dirty="0">
              <a:effectLst/>
            </a:endParaRPr>
          </a:p>
          <a:p>
            <a:r>
              <a:rPr lang="pt-BR" dirty="0">
                <a:effectLst/>
              </a:rPr>
              <a:t>Ok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FA0073-7638-47EA-9AFC-ADDA54E7417A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97833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FA0073-7638-47EA-9AFC-ADDA54E7417A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03018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1.jpeg"/><Relationship Id="rId7" Type="http://schemas.openxmlformats.org/officeDocument/2006/relationships/image" Target="../media/image36.png"/><Relationship Id="rId12" Type="http://schemas.openxmlformats.org/officeDocument/2006/relationships/image" Target="../media/image40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11" Type="http://schemas.openxmlformats.org/officeDocument/2006/relationships/image" Target="../media/image39.png"/><Relationship Id="rId5" Type="http://schemas.openxmlformats.org/officeDocument/2006/relationships/image" Target="../media/image34.png"/><Relationship Id="rId10" Type="http://schemas.openxmlformats.org/officeDocument/2006/relationships/image" Target="../media/image6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6040" y="-19050"/>
            <a:ext cx="9457182" cy="10306050"/>
            <a:chOff x="0" y="0"/>
            <a:chExt cx="12609576" cy="13741400"/>
          </a:xfrm>
        </p:grpSpPr>
        <p:sp>
          <p:nvSpPr>
            <p:cNvPr id="3" name="Freeform 3"/>
            <p:cNvSpPr/>
            <p:nvPr/>
          </p:nvSpPr>
          <p:spPr>
            <a:xfrm>
              <a:off x="14561" y="12700"/>
              <a:ext cx="12580454" cy="13716000"/>
            </a:xfrm>
            <a:custGeom>
              <a:avLst/>
              <a:gdLst/>
              <a:ahLst/>
              <a:cxnLst/>
              <a:rect l="l" t="t" r="r" b="b"/>
              <a:pathLst>
                <a:path w="12580454" h="13716000">
                  <a:moveTo>
                    <a:pt x="0" y="0"/>
                  </a:moveTo>
                  <a:lnTo>
                    <a:pt x="12580454" y="0"/>
                  </a:lnTo>
                  <a:lnTo>
                    <a:pt x="1258045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2B49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57250" y="2241677"/>
            <a:ext cx="8063243" cy="1898214"/>
            <a:chOff x="0" y="0"/>
            <a:chExt cx="10750991" cy="253095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750992" cy="2530952"/>
            </a:xfrm>
            <a:custGeom>
              <a:avLst/>
              <a:gdLst/>
              <a:ahLst/>
              <a:cxnLst/>
              <a:rect l="l" t="t" r="r" b="b"/>
              <a:pathLst>
                <a:path w="10750992" h="2530952">
                  <a:moveTo>
                    <a:pt x="0" y="0"/>
                  </a:moveTo>
                  <a:lnTo>
                    <a:pt x="10750992" y="0"/>
                  </a:lnTo>
                  <a:lnTo>
                    <a:pt x="10750992" y="2530952"/>
                  </a:lnTo>
                  <a:lnTo>
                    <a:pt x="0" y="2530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4511" r="17771" b="18392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10750991" cy="25309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479"/>
                </a:lnSpc>
              </a:pPr>
              <a:r>
                <a:rPr lang="en-US" sz="5399" b="1" spc="-337" dirty="0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Reunião de</a:t>
              </a:r>
            </a:p>
            <a:p>
              <a:pPr algn="l">
                <a:lnSpc>
                  <a:spcPts val="6479"/>
                </a:lnSpc>
              </a:pPr>
              <a:r>
                <a:rPr lang="en-US" sz="5399" b="1" spc="-337" dirty="0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Indicadores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857250" y="4254703"/>
            <a:ext cx="6630314" cy="685800"/>
            <a:chOff x="0" y="0"/>
            <a:chExt cx="8840419" cy="9144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840420" cy="914400"/>
            </a:xfrm>
            <a:custGeom>
              <a:avLst/>
              <a:gdLst/>
              <a:ahLst/>
              <a:cxnLst/>
              <a:rect l="l" t="t" r="r" b="b"/>
              <a:pathLst>
                <a:path w="8840420" h="914400">
                  <a:moveTo>
                    <a:pt x="0" y="0"/>
                  </a:moveTo>
                  <a:lnTo>
                    <a:pt x="8840420" y="0"/>
                  </a:lnTo>
                  <a:lnTo>
                    <a:pt x="88404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8381" b="-138381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0"/>
              <a:ext cx="8840419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dirty="0">
                  <a:solidFill>
                    <a:srgbClr val="D1E4F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Cultura de </a:t>
              </a:r>
              <a:r>
                <a:rPr lang="en-US" sz="1800" dirty="0" err="1">
                  <a:solidFill>
                    <a:srgbClr val="D1E4F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Resultados</a:t>
              </a:r>
              <a:r>
                <a:rPr lang="en-US" sz="1800" dirty="0">
                  <a:solidFill>
                    <a:srgbClr val="D1E4F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&amp;</a:t>
              </a:r>
            </a:p>
            <a:p>
              <a:pPr algn="l">
                <a:lnSpc>
                  <a:spcPts val="2160"/>
                </a:lnSpc>
              </a:pPr>
              <a:r>
                <a:rPr lang="en-US" sz="1800" dirty="0" err="1">
                  <a:solidFill>
                    <a:srgbClr val="D1E4F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Governança</a:t>
              </a:r>
              <a:r>
                <a:rPr lang="en-US" sz="1800" dirty="0">
                  <a:solidFill>
                    <a:srgbClr val="D1E4F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de Performance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57250" y="4940503"/>
            <a:ext cx="1142543" cy="57607"/>
            <a:chOff x="0" y="0"/>
            <a:chExt cx="1523390" cy="76810"/>
          </a:xfrm>
        </p:grpSpPr>
        <p:sp>
          <p:nvSpPr>
            <p:cNvPr id="11" name="Freeform 11" descr="preencoded.png"/>
            <p:cNvSpPr/>
            <p:nvPr/>
          </p:nvSpPr>
          <p:spPr>
            <a:xfrm>
              <a:off x="0" y="0"/>
              <a:ext cx="1523365" cy="76835"/>
            </a:xfrm>
            <a:custGeom>
              <a:avLst/>
              <a:gdLst/>
              <a:ahLst/>
              <a:cxnLst/>
              <a:rect l="l" t="t" r="r" b="b"/>
              <a:pathLst>
                <a:path w="1523365" h="76835">
                  <a:moveTo>
                    <a:pt x="0" y="0"/>
                  </a:moveTo>
                  <a:lnTo>
                    <a:pt x="1523365" y="0"/>
                  </a:lnTo>
                  <a:lnTo>
                    <a:pt x="1523365" y="76835"/>
                  </a:lnTo>
                  <a:lnTo>
                    <a:pt x="0" y="768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413" r="-2" b="446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13866" y="5683910"/>
            <a:ext cx="6329934" cy="371704"/>
            <a:chOff x="0" y="0"/>
            <a:chExt cx="8439912" cy="49560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439912" cy="495604"/>
            </a:xfrm>
            <a:custGeom>
              <a:avLst/>
              <a:gdLst/>
              <a:ahLst/>
              <a:cxnLst/>
              <a:rect l="l" t="t" r="r" b="b"/>
              <a:pathLst>
                <a:path w="8439912" h="495604">
                  <a:moveTo>
                    <a:pt x="0" y="0"/>
                  </a:moveTo>
                  <a:lnTo>
                    <a:pt x="8439912" y="0"/>
                  </a:lnTo>
                  <a:lnTo>
                    <a:pt x="8439912" y="495604"/>
                  </a:lnTo>
                  <a:lnTo>
                    <a:pt x="0" y="4956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1821" b="-281821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0"/>
              <a:ext cx="8439912" cy="4956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 dirty="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Reunião  Mensal</a:t>
              </a:r>
              <a:r>
                <a:rPr lang="en-US" sz="1500" dirty="0">
                  <a:solidFill>
                    <a:srgbClr val="B0CBE6"/>
                  </a:solidFill>
                  <a:latin typeface="Open Sans"/>
                  <a:ea typeface="Open Sans"/>
                  <a:cs typeface="Open Sans"/>
                  <a:sym typeface="Open Sans"/>
                </a:rPr>
                <a:t> • Jun 2026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57250" y="5748376"/>
            <a:ext cx="356616" cy="229057"/>
            <a:chOff x="0" y="0"/>
            <a:chExt cx="475488" cy="305410"/>
          </a:xfrm>
        </p:grpSpPr>
        <p:sp>
          <p:nvSpPr>
            <p:cNvPr id="16" name="Freeform 16" descr="preencoded.png"/>
            <p:cNvSpPr/>
            <p:nvPr/>
          </p:nvSpPr>
          <p:spPr>
            <a:xfrm>
              <a:off x="0" y="0"/>
              <a:ext cx="475488" cy="305435"/>
            </a:xfrm>
            <a:custGeom>
              <a:avLst/>
              <a:gdLst/>
              <a:ahLst/>
              <a:cxnLst/>
              <a:rect l="l" t="t" r="r" b="b"/>
              <a:pathLst>
                <a:path w="475488" h="305435">
                  <a:moveTo>
                    <a:pt x="0" y="0"/>
                  </a:moveTo>
                  <a:lnTo>
                    <a:pt x="475488" y="0"/>
                  </a:lnTo>
                  <a:lnTo>
                    <a:pt x="475488" y="305435"/>
                  </a:lnTo>
                  <a:lnTo>
                    <a:pt x="0" y="3054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21933" r="21773" b="8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213866" y="6157112"/>
            <a:ext cx="6329934" cy="371704"/>
            <a:chOff x="0" y="0"/>
            <a:chExt cx="8439912" cy="49560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439912" cy="495604"/>
            </a:xfrm>
            <a:custGeom>
              <a:avLst/>
              <a:gdLst/>
              <a:ahLst/>
              <a:cxnLst/>
              <a:rect l="l" t="t" r="r" b="b"/>
              <a:pathLst>
                <a:path w="8439912" h="495604">
                  <a:moveTo>
                    <a:pt x="0" y="0"/>
                  </a:moveTo>
                  <a:lnTo>
                    <a:pt x="8439912" y="0"/>
                  </a:lnTo>
                  <a:lnTo>
                    <a:pt x="8439912" y="495604"/>
                  </a:lnTo>
                  <a:lnTo>
                    <a:pt x="0" y="4956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1821" b="-281821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0"/>
              <a:ext cx="8439912" cy="4956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B0CBE6"/>
                  </a:solidFill>
                  <a:latin typeface="Open Sans"/>
                  <a:ea typeface="Open Sans"/>
                  <a:cs typeface="Open Sans"/>
                  <a:sym typeface="Open Sans"/>
                </a:rPr>
                <a:t> Foco: Consolidado Q1 e Forecast Orçamentário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857250" y="6222949"/>
            <a:ext cx="356616" cy="229057"/>
            <a:chOff x="0" y="0"/>
            <a:chExt cx="475488" cy="305410"/>
          </a:xfrm>
        </p:grpSpPr>
        <p:sp>
          <p:nvSpPr>
            <p:cNvPr id="21" name="Freeform 21" descr="preencoded.png"/>
            <p:cNvSpPr/>
            <p:nvPr/>
          </p:nvSpPr>
          <p:spPr>
            <a:xfrm>
              <a:off x="0" y="0"/>
              <a:ext cx="475488" cy="305435"/>
            </a:xfrm>
            <a:custGeom>
              <a:avLst/>
              <a:gdLst/>
              <a:ahLst/>
              <a:cxnLst/>
              <a:rect l="l" t="t" r="r" b="b"/>
              <a:pathLst>
                <a:path w="475488" h="305435">
                  <a:moveTo>
                    <a:pt x="0" y="0"/>
                  </a:moveTo>
                  <a:lnTo>
                    <a:pt x="475488" y="0"/>
                  </a:lnTo>
                  <a:lnTo>
                    <a:pt x="475488" y="305435"/>
                  </a:lnTo>
                  <a:lnTo>
                    <a:pt x="0" y="3054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17884" r="17884" b="8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213866" y="6631686"/>
            <a:ext cx="6329934" cy="371704"/>
            <a:chOff x="0" y="0"/>
            <a:chExt cx="8439912" cy="495605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439912" cy="495604"/>
            </a:xfrm>
            <a:custGeom>
              <a:avLst/>
              <a:gdLst/>
              <a:ahLst/>
              <a:cxnLst/>
              <a:rect l="l" t="t" r="r" b="b"/>
              <a:pathLst>
                <a:path w="8439912" h="495604">
                  <a:moveTo>
                    <a:pt x="0" y="0"/>
                  </a:moveTo>
                  <a:lnTo>
                    <a:pt x="8439912" y="0"/>
                  </a:lnTo>
                  <a:lnTo>
                    <a:pt x="8439912" y="495604"/>
                  </a:lnTo>
                  <a:lnTo>
                    <a:pt x="0" y="4956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1821" b="-281821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0"/>
              <a:ext cx="8439912" cy="4956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dirty="0">
                  <a:solidFill>
                    <a:srgbClr val="B0CBE6"/>
                  </a:solidFill>
                  <a:latin typeface="Open Sans"/>
                  <a:ea typeface="Open Sans"/>
                  <a:cs typeface="Open Sans"/>
                  <a:sym typeface="Open Sans"/>
                </a:rPr>
                <a:t> Responsável: Socorro Montoia – Coord Adm Financeira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57250" y="6697523"/>
            <a:ext cx="356616" cy="229057"/>
            <a:chOff x="0" y="0"/>
            <a:chExt cx="475488" cy="305410"/>
          </a:xfrm>
        </p:grpSpPr>
        <p:sp>
          <p:nvSpPr>
            <p:cNvPr id="26" name="Freeform 26" descr="preencoded.png"/>
            <p:cNvSpPr/>
            <p:nvPr/>
          </p:nvSpPr>
          <p:spPr>
            <a:xfrm>
              <a:off x="0" y="0"/>
              <a:ext cx="475488" cy="305435"/>
            </a:xfrm>
            <a:custGeom>
              <a:avLst/>
              <a:gdLst/>
              <a:ahLst/>
              <a:cxnLst/>
              <a:rect l="l" t="t" r="r" b="b"/>
              <a:pathLst>
                <a:path w="475488" h="305435">
                  <a:moveTo>
                    <a:pt x="0" y="0"/>
                  </a:moveTo>
                  <a:lnTo>
                    <a:pt x="475488" y="0"/>
                  </a:lnTo>
                  <a:lnTo>
                    <a:pt x="475488" y="305435"/>
                  </a:lnTo>
                  <a:lnTo>
                    <a:pt x="0" y="3054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9919" r="9273" b="8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47725" y="1362075"/>
            <a:ext cx="2719730" cy="47854"/>
            <a:chOff x="0" y="0"/>
            <a:chExt cx="3626307" cy="63805"/>
          </a:xfrm>
        </p:grpSpPr>
        <p:sp>
          <p:nvSpPr>
            <p:cNvPr id="28" name="Freeform 28"/>
            <p:cNvSpPr/>
            <p:nvPr/>
          </p:nvSpPr>
          <p:spPr>
            <a:xfrm>
              <a:off x="12700" y="12700"/>
              <a:ext cx="3600958" cy="38354"/>
            </a:xfrm>
            <a:custGeom>
              <a:avLst/>
              <a:gdLst/>
              <a:ahLst/>
              <a:cxnLst/>
              <a:rect l="l" t="t" r="r" b="b"/>
              <a:pathLst>
                <a:path w="3600958" h="38354">
                  <a:moveTo>
                    <a:pt x="0" y="0"/>
                  </a:moveTo>
                  <a:lnTo>
                    <a:pt x="3600958" y="0"/>
                  </a:lnTo>
                  <a:lnTo>
                    <a:pt x="3600958" y="38354"/>
                  </a:lnTo>
                  <a:lnTo>
                    <a:pt x="0" y="38354"/>
                  </a:lnTo>
                  <a:close/>
                </a:path>
              </a:pathLst>
            </a:custGeom>
            <a:solidFill>
              <a:srgbClr val="005C99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86112" y="0"/>
            <a:ext cx="71323" cy="10287000"/>
            <a:chOff x="0" y="0"/>
            <a:chExt cx="95098" cy="137160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95097" cy="13716000"/>
            </a:xfrm>
            <a:custGeom>
              <a:avLst/>
              <a:gdLst/>
              <a:ahLst/>
              <a:cxnLst/>
              <a:rect l="l" t="t" r="r" b="b"/>
              <a:pathLst>
                <a:path w="95097" h="13716000">
                  <a:moveTo>
                    <a:pt x="0" y="0"/>
                  </a:moveTo>
                  <a:lnTo>
                    <a:pt x="95097" y="0"/>
                  </a:lnTo>
                  <a:lnTo>
                    <a:pt x="95097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2B49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05264" y="-9525"/>
            <a:ext cx="161696" cy="10306050"/>
            <a:chOff x="0" y="0"/>
            <a:chExt cx="215595" cy="13741400"/>
          </a:xfrm>
        </p:grpSpPr>
        <p:sp>
          <p:nvSpPr>
            <p:cNvPr id="32" name="Freeform 32"/>
            <p:cNvSpPr/>
            <p:nvPr/>
          </p:nvSpPr>
          <p:spPr>
            <a:xfrm>
              <a:off x="12700" y="12700"/>
              <a:ext cx="190246" cy="13716000"/>
            </a:xfrm>
            <a:custGeom>
              <a:avLst/>
              <a:gdLst/>
              <a:ahLst/>
              <a:cxnLst/>
              <a:rect l="l" t="t" r="r" b="b"/>
              <a:pathLst>
                <a:path w="190246" h="13716000">
                  <a:moveTo>
                    <a:pt x="0" y="0"/>
                  </a:moveTo>
                  <a:lnTo>
                    <a:pt x="190246" y="0"/>
                  </a:lnTo>
                  <a:lnTo>
                    <a:pt x="190246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5C99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33" name="Freeform 33"/>
          <p:cNvSpPr/>
          <p:nvPr/>
        </p:nvSpPr>
        <p:spPr>
          <a:xfrm>
            <a:off x="10639302" y="4664550"/>
            <a:ext cx="7231271" cy="1205212"/>
          </a:xfrm>
          <a:custGeom>
            <a:avLst/>
            <a:gdLst/>
            <a:ahLst/>
            <a:cxnLst/>
            <a:rect l="l" t="t" r="r" b="b"/>
            <a:pathLst>
              <a:path w="7231271" h="1205212">
                <a:moveTo>
                  <a:pt x="0" y="0"/>
                </a:moveTo>
                <a:lnTo>
                  <a:pt x="7231271" y="0"/>
                </a:lnTo>
                <a:lnTo>
                  <a:pt x="7231271" y="1205212"/>
                </a:lnTo>
                <a:lnTo>
                  <a:pt x="0" y="120521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5DB5A0B7-C5DF-6EE9-F7D9-B5F5497BEF8C}"/>
              </a:ext>
            </a:extLst>
          </p:cNvPr>
          <p:cNvSpPr txBox="1"/>
          <p:nvPr/>
        </p:nvSpPr>
        <p:spPr>
          <a:xfrm>
            <a:off x="10639263" y="539234"/>
            <a:ext cx="6791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INCLUIR NA APRESENTÇÃO DE Junho: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87649" y="1131721"/>
            <a:ext cx="158936" cy="8038833"/>
            <a:chOff x="0" y="0"/>
            <a:chExt cx="120498" cy="5244795"/>
          </a:xfrm>
        </p:grpSpPr>
        <p:sp>
          <p:nvSpPr>
            <p:cNvPr id="5" name="Freeform 5"/>
            <p:cNvSpPr/>
            <p:nvPr/>
          </p:nvSpPr>
          <p:spPr>
            <a:xfrm>
              <a:off x="12700" y="12700"/>
              <a:ext cx="95123" cy="5219446"/>
            </a:xfrm>
            <a:custGeom>
              <a:avLst/>
              <a:gdLst/>
              <a:ahLst/>
              <a:cxnLst/>
              <a:rect l="l" t="t" r="r" b="b"/>
              <a:pathLst>
                <a:path w="95123" h="5219446">
                  <a:moveTo>
                    <a:pt x="0" y="59944"/>
                  </a:moveTo>
                  <a:cubicBezTo>
                    <a:pt x="0" y="26797"/>
                    <a:pt x="21336" y="0"/>
                    <a:pt x="47498" y="0"/>
                  </a:cubicBezTo>
                  <a:cubicBezTo>
                    <a:pt x="73660" y="0"/>
                    <a:pt x="95123" y="26797"/>
                    <a:pt x="95123" y="59944"/>
                  </a:cubicBezTo>
                  <a:lnTo>
                    <a:pt x="95123" y="5159502"/>
                  </a:lnTo>
                  <a:cubicBezTo>
                    <a:pt x="95123" y="5192649"/>
                    <a:pt x="73787" y="5219446"/>
                    <a:pt x="47625" y="5219446"/>
                  </a:cubicBezTo>
                  <a:cubicBezTo>
                    <a:pt x="21463" y="5219446"/>
                    <a:pt x="0" y="5192522"/>
                    <a:pt x="0" y="5159502"/>
                  </a:cubicBezTo>
                  <a:close/>
                </a:path>
              </a:pathLst>
            </a:custGeom>
            <a:solidFill>
              <a:srgbClr val="002B49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93372" y="1106462"/>
            <a:ext cx="1113134" cy="978408"/>
            <a:chOff x="0" y="0"/>
            <a:chExt cx="634390" cy="634390"/>
          </a:xfrm>
        </p:grpSpPr>
        <p:sp>
          <p:nvSpPr>
            <p:cNvPr id="7" name="Freeform 7"/>
            <p:cNvSpPr/>
            <p:nvPr/>
          </p:nvSpPr>
          <p:spPr>
            <a:xfrm>
              <a:off x="12700" y="12700"/>
              <a:ext cx="608965" cy="608965"/>
            </a:xfrm>
            <a:custGeom>
              <a:avLst/>
              <a:gdLst/>
              <a:ahLst/>
              <a:cxnLst/>
              <a:rect l="l" t="t" r="r" b="b"/>
              <a:pathLst>
                <a:path w="608965" h="608965">
                  <a:moveTo>
                    <a:pt x="0" y="304546"/>
                  </a:moveTo>
                  <a:cubicBezTo>
                    <a:pt x="0" y="136271"/>
                    <a:pt x="136271" y="0"/>
                    <a:pt x="304546" y="0"/>
                  </a:cubicBezTo>
                  <a:cubicBezTo>
                    <a:pt x="472821" y="0"/>
                    <a:pt x="608965" y="136271"/>
                    <a:pt x="608965" y="304546"/>
                  </a:cubicBezTo>
                  <a:cubicBezTo>
                    <a:pt x="608965" y="472821"/>
                    <a:pt x="472694" y="608965"/>
                    <a:pt x="304546" y="608965"/>
                  </a:cubicBezTo>
                  <a:cubicBezTo>
                    <a:pt x="136398" y="608965"/>
                    <a:pt x="0" y="472694"/>
                    <a:pt x="0" y="304546"/>
                  </a:cubicBezTo>
                  <a:close/>
                </a:path>
              </a:pathLst>
            </a:custGeom>
            <a:solidFill>
              <a:srgbClr val="F1F5F9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2057400" y="1444602"/>
            <a:ext cx="3306928" cy="393935"/>
            <a:chOff x="0" y="-9525"/>
            <a:chExt cx="4409237" cy="52524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409236" cy="515722"/>
            </a:xfrm>
            <a:custGeom>
              <a:avLst/>
              <a:gdLst/>
              <a:ahLst/>
              <a:cxnLst/>
              <a:rect l="l" t="t" r="r" b="b"/>
              <a:pathLst>
                <a:path w="4409236" h="515722">
                  <a:moveTo>
                    <a:pt x="0" y="0"/>
                  </a:moveTo>
                  <a:lnTo>
                    <a:pt x="4409236" y="0"/>
                  </a:lnTo>
                  <a:lnTo>
                    <a:pt x="4409236" y="515722"/>
                  </a:lnTo>
                  <a:lnTo>
                    <a:pt x="0" y="51572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6590" b="-116589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9525"/>
              <a:ext cx="4409237" cy="5252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3200" b="1" dirty="0">
                  <a:solidFill>
                    <a:srgbClr val="1E293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Fluxo de Caixa </a:t>
              </a:r>
              <a:r>
                <a:rPr lang="en-US" sz="3200" b="1" dirty="0" err="1">
                  <a:solidFill>
                    <a:srgbClr val="1E293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Margem</a:t>
              </a:r>
              <a:endParaRPr lang="en-US" sz="3200" b="1" dirty="0">
                <a:solidFill>
                  <a:srgbClr val="1E293B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37427" y="3136597"/>
            <a:ext cx="16320294" cy="3507429"/>
            <a:chOff x="0" y="0"/>
            <a:chExt cx="21647302" cy="377809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1647277" cy="3777996"/>
            </a:xfrm>
            <a:custGeom>
              <a:avLst/>
              <a:gdLst/>
              <a:ahLst/>
              <a:cxnLst/>
              <a:rect l="l" t="t" r="r" b="b"/>
              <a:pathLst>
                <a:path w="21647277" h="3777996">
                  <a:moveTo>
                    <a:pt x="0" y="124079"/>
                  </a:moveTo>
                  <a:cubicBezTo>
                    <a:pt x="0" y="55499"/>
                    <a:pt x="55880" y="0"/>
                    <a:pt x="124714" y="0"/>
                  </a:cubicBezTo>
                  <a:lnTo>
                    <a:pt x="21522562" y="0"/>
                  </a:lnTo>
                  <a:lnTo>
                    <a:pt x="21522562" y="12700"/>
                  </a:lnTo>
                  <a:lnTo>
                    <a:pt x="21522562" y="0"/>
                  </a:lnTo>
                  <a:cubicBezTo>
                    <a:pt x="21591397" y="0"/>
                    <a:pt x="21647277" y="55499"/>
                    <a:pt x="21647277" y="124079"/>
                  </a:cubicBezTo>
                  <a:lnTo>
                    <a:pt x="21634577" y="124079"/>
                  </a:lnTo>
                  <a:lnTo>
                    <a:pt x="21647277" y="124079"/>
                  </a:lnTo>
                  <a:lnTo>
                    <a:pt x="21647277" y="3653917"/>
                  </a:lnTo>
                  <a:lnTo>
                    <a:pt x="21634577" y="3653917"/>
                  </a:lnTo>
                  <a:lnTo>
                    <a:pt x="21647277" y="3653917"/>
                  </a:lnTo>
                  <a:cubicBezTo>
                    <a:pt x="21647277" y="3722497"/>
                    <a:pt x="21591397" y="3777996"/>
                    <a:pt x="21522562" y="3777996"/>
                  </a:cubicBezTo>
                  <a:lnTo>
                    <a:pt x="21522562" y="3765296"/>
                  </a:lnTo>
                  <a:lnTo>
                    <a:pt x="21522562" y="3777996"/>
                  </a:lnTo>
                  <a:lnTo>
                    <a:pt x="124714" y="3777996"/>
                  </a:lnTo>
                  <a:lnTo>
                    <a:pt x="124714" y="3765296"/>
                  </a:lnTo>
                  <a:lnTo>
                    <a:pt x="124714" y="3777996"/>
                  </a:lnTo>
                  <a:cubicBezTo>
                    <a:pt x="55880" y="3777996"/>
                    <a:pt x="0" y="3722497"/>
                    <a:pt x="0" y="3653917"/>
                  </a:cubicBezTo>
                  <a:lnTo>
                    <a:pt x="0" y="124079"/>
                  </a:lnTo>
                  <a:lnTo>
                    <a:pt x="12700" y="124079"/>
                  </a:lnTo>
                  <a:lnTo>
                    <a:pt x="0" y="124079"/>
                  </a:lnTo>
                  <a:moveTo>
                    <a:pt x="25400" y="124079"/>
                  </a:moveTo>
                  <a:lnTo>
                    <a:pt x="25400" y="3653917"/>
                  </a:lnTo>
                  <a:lnTo>
                    <a:pt x="12700" y="3653917"/>
                  </a:lnTo>
                  <a:lnTo>
                    <a:pt x="25400" y="3653917"/>
                  </a:lnTo>
                  <a:cubicBezTo>
                    <a:pt x="25400" y="3708400"/>
                    <a:pt x="69850" y="3752596"/>
                    <a:pt x="124714" y="3752596"/>
                  </a:cubicBezTo>
                  <a:lnTo>
                    <a:pt x="21522562" y="3752596"/>
                  </a:lnTo>
                  <a:cubicBezTo>
                    <a:pt x="21577553" y="3752596"/>
                    <a:pt x="21621877" y="3708273"/>
                    <a:pt x="21621877" y="3653917"/>
                  </a:cubicBezTo>
                  <a:lnTo>
                    <a:pt x="21621877" y="124079"/>
                  </a:lnTo>
                  <a:cubicBezTo>
                    <a:pt x="21621877" y="69596"/>
                    <a:pt x="21577427" y="25400"/>
                    <a:pt x="21522562" y="25400"/>
                  </a:cubicBezTo>
                  <a:lnTo>
                    <a:pt x="124714" y="25400"/>
                  </a:lnTo>
                  <a:lnTo>
                    <a:pt x="124714" y="12700"/>
                  </a:lnTo>
                  <a:lnTo>
                    <a:pt x="124714" y="25400"/>
                  </a:lnTo>
                  <a:cubicBezTo>
                    <a:pt x="69850" y="25400"/>
                    <a:pt x="25400" y="69723"/>
                    <a:pt x="25400" y="124079"/>
                  </a:cubicBez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4270126" y="11086643"/>
            <a:ext cx="3939235" cy="257861"/>
            <a:chOff x="0" y="0"/>
            <a:chExt cx="5252314" cy="343814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5252314" cy="343814"/>
            </a:xfrm>
            <a:custGeom>
              <a:avLst/>
              <a:gdLst/>
              <a:ahLst/>
              <a:cxnLst/>
              <a:rect l="l" t="t" r="r" b="b"/>
              <a:pathLst>
                <a:path w="5252314" h="343814">
                  <a:moveTo>
                    <a:pt x="0" y="0"/>
                  </a:moveTo>
                  <a:lnTo>
                    <a:pt x="5252314" y="0"/>
                  </a:lnTo>
                  <a:lnTo>
                    <a:pt x="5252314" y="343814"/>
                  </a:lnTo>
                  <a:lnTo>
                    <a:pt x="0" y="34381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7665" b="-247665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9525"/>
              <a:ext cx="5252314" cy="3533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4748B"/>
                  </a:solidFill>
                  <a:latin typeface="Open Sans"/>
                  <a:ea typeface="Open Sans"/>
                  <a:cs typeface="Open Sans"/>
                  <a:sym typeface="Open Sans"/>
                </a:rPr>
                <a:t>Documento Interno - Grupo BEEA © 2026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-9525" y="962939"/>
            <a:ext cx="18306593" cy="61570"/>
            <a:chOff x="0" y="0"/>
            <a:chExt cx="24408790" cy="82093"/>
          </a:xfrm>
        </p:grpSpPr>
        <p:sp>
          <p:nvSpPr>
            <p:cNvPr id="42" name="Freeform 42"/>
            <p:cNvSpPr/>
            <p:nvPr/>
          </p:nvSpPr>
          <p:spPr>
            <a:xfrm>
              <a:off x="12700" y="12700"/>
              <a:ext cx="24383364" cy="56642"/>
            </a:xfrm>
            <a:custGeom>
              <a:avLst/>
              <a:gdLst/>
              <a:ahLst/>
              <a:cxnLst/>
              <a:rect l="l" t="t" r="r" b="b"/>
              <a:pathLst>
                <a:path w="24383364" h="56642">
                  <a:moveTo>
                    <a:pt x="0" y="0"/>
                  </a:moveTo>
                  <a:lnTo>
                    <a:pt x="24383364" y="0"/>
                  </a:lnTo>
                  <a:lnTo>
                    <a:pt x="24383364" y="56642"/>
                  </a:lnTo>
                  <a:lnTo>
                    <a:pt x="0" y="56642"/>
                  </a:lnTo>
                  <a:close/>
                </a:path>
              </a:pathLst>
            </a:custGeom>
            <a:solidFill>
              <a:srgbClr val="002B49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9" name="Freeform 49"/>
          <p:cNvSpPr/>
          <p:nvPr/>
        </p:nvSpPr>
        <p:spPr>
          <a:xfrm>
            <a:off x="14883232" y="366964"/>
            <a:ext cx="3083905" cy="513984"/>
          </a:xfrm>
          <a:custGeom>
            <a:avLst/>
            <a:gdLst/>
            <a:ahLst/>
            <a:cxnLst/>
            <a:rect l="l" t="t" r="r" b="b"/>
            <a:pathLst>
              <a:path w="3083905" h="513984">
                <a:moveTo>
                  <a:pt x="0" y="0"/>
                </a:moveTo>
                <a:lnTo>
                  <a:pt x="3083905" y="0"/>
                </a:lnTo>
                <a:lnTo>
                  <a:pt x="3083905" y="513984"/>
                </a:lnTo>
                <a:lnTo>
                  <a:pt x="0" y="5139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6" name="TextBox 45">
            <a:extLst>
              <a:ext uri="{FF2B5EF4-FFF2-40B4-BE49-F238E27FC236}">
                <a16:creationId xmlns:a16="http://schemas.microsoft.com/office/drawing/2014/main" id="{828B4919-3A8C-D777-5236-40B031148CF3}"/>
              </a:ext>
            </a:extLst>
          </p:cNvPr>
          <p:cNvSpPr txBox="1"/>
          <p:nvPr/>
        </p:nvSpPr>
        <p:spPr>
          <a:xfrm>
            <a:off x="579766" y="212140"/>
            <a:ext cx="7116434" cy="600761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l">
              <a:lnSpc>
                <a:spcPts val="3779"/>
              </a:lnSpc>
            </a:pPr>
            <a:r>
              <a:rPr lang="en-US" sz="3150" b="1" dirty="0">
                <a:solidFill>
                  <a:srgbClr val="002B4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Indicadores — FLUXO DE CAIXA</a:t>
            </a:r>
          </a:p>
        </p:txBody>
      </p:sp>
      <p:pic>
        <p:nvPicPr>
          <p:cNvPr id="19" name="Imagem 18" descr="Forma&#10;&#10;Descrição gerada automaticamente com confiança baixa">
            <a:extLst>
              <a:ext uri="{FF2B5EF4-FFF2-40B4-BE49-F238E27FC236}">
                <a16:creationId xmlns:a16="http://schemas.microsoft.com/office/drawing/2014/main" id="{EE49D53B-5ABB-C655-C182-C7E49D17AE8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307" y="1301628"/>
            <a:ext cx="595358" cy="595358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B083341E-225E-D58B-B5B7-52E1347EC3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8307" y="3386656"/>
            <a:ext cx="15900494" cy="271287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8"/>
          <p:cNvGrpSpPr/>
          <p:nvPr/>
        </p:nvGrpSpPr>
        <p:grpSpPr>
          <a:xfrm>
            <a:off x="705079" y="1144142"/>
            <a:ext cx="164269" cy="7004876"/>
            <a:chOff x="0" y="0"/>
            <a:chExt cx="120498" cy="5244795"/>
          </a:xfrm>
        </p:grpSpPr>
        <p:sp>
          <p:nvSpPr>
            <p:cNvPr id="19" name="Freeform 19"/>
            <p:cNvSpPr/>
            <p:nvPr/>
          </p:nvSpPr>
          <p:spPr>
            <a:xfrm>
              <a:off x="12700" y="12700"/>
              <a:ext cx="95123" cy="5219446"/>
            </a:xfrm>
            <a:custGeom>
              <a:avLst/>
              <a:gdLst/>
              <a:ahLst/>
              <a:cxnLst/>
              <a:rect l="l" t="t" r="r" b="b"/>
              <a:pathLst>
                <a:path w="95123" h="5219446">
                  <a:moveTo>
                    <a:pt x="0" y="59944"/>
                  </a:moveTo>
                  <a:cubicBezTo>
                    <a:pt x="0" y="26797"/>
                    <a:pt x="21336" y="0"/>
                    <a:pt x="47498" y="0"/>
                  </a:cubicBezTo>
                  <a:cubicBezTo>
                    <a:pt x="73660" y="0"/>
                    <a:pt x="95123" y="26797"/>
                    <a:pt x="95123" y="59944"/>
                  </a:cubicBezTo>
                  <a:lnTo>
                    <a:pt x="95123" y="5159502"/>
                  </a:lnTo>
                  <a:cubicBezTo>
                    <a:pt x="95123" y="5192649"/>
                    <a:pt x="73787" y="5219446"/>
                    <a:pt x="47625" y="5219446"/>
                  </a:cubicBezTo>
                  <a:cubicBezTo>
                    <a:pt x="21463" y="5219446"/>
                    <a:pt x="0" y="5192522"/>
                    <a:pt x="0" y="5159502"/>
                  </a:cubicBezTo>
                  <a:close/>
                </a:path>
              </a:pathLst>
            </a:custGeom>
            <a:solidFill>
              <a:srgbClr val="002B49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24929" y="1243823"/>
            <a:ext cx="827671" cy="777664"/>
            <a:chOff x="0" y="0"/>
            <a:chExt cx="634390" cy="634390"/>
          </a:xfrm>
        </p:grpSpPr>
        <p:sp>
          <p:nvSpPr>
            <p:cNvPr id="21" name="Freeform 21"/>
            <p:cNvSpPr/>
            <p:nvPr/>
          </p:nvSpPr>
          <p:spPr>
            <a:xfrm>
              <a:off x="12700" y="12700"/>
              <a:ext cx="608965" cy="608965"/>
            </a:xfrm>
            <a:custGeom>
              <a:avLst/>
              <a:gdLst/>
              <a:ahLst/>
              <a:cxnLst/>
              <a:rect l="l" t="t" r="r" b="b"/>
              <a:pathLst>
                <a:path w="608965" h="608965">
                  <a:moveTo>
                    <a:pt x="0" y="304546"/>
                  </a:moveTo>
                  <a:cubicBezTo>
                    <a:pt x="0" y="136271"/>
                    <a:pt x="136271" y="0"/>
                    <a:pt x="304546" y="0"/>
                  </a:cubicBezTo>
                  <a:cubicBezTo>
                    <a:pt x="472821" y="0"/>
                    <a:pt x="608965" y="136271"/>
                    <a:pt x="608965" y="304546"/>
                  </a:cubicBezTo>
                  <a:cubicBezTo>
                    <a:pt x="608965" y="472821"/>
                    <a:pt x="472694" y="608965"/>
                    <a:pt x="304546" y="608965"/>
                  </a:cubicBezTo>
                  <a:cubicBezTo>
                    <a:pt x="136398" y="608965"/>
                    <a:pt x="0" y="472694"/>
                    <a:pt x="0" y="304546"/>
                  </a:cubicBezTo>
                  <a:close/>
                </a:path>
              </a:pathLst>
            </a:custGeom>
            <a:solidFill>
              <a:srgbClr val="F1F5F9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554551" y="1435671"/>
            <a:ext cx="5111691" cy="4536351"/>
            <a:chOff x="0" y="-5532754"/>
            <a:chExt cx="6815588" cy="604847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391656" cy="515722"/>
            </a:xfrm>
            <a:custGeom>
              <a:avLst/>
              <a:gdLst/>
              <a:ahLst/>
              <a:cxnLst/>
              <a:rect l="l" t="t" r="r" b="b"/>
              <a:pathLst>
                <a:path w="6391656" h="515722">
                  <a:moveTo>
                    <a:pt x="0" y="0"/>
                  </a:moveTo>
                  <a:lnTo>
                    <a:pt x="6391656" y="0"/>
                  </a:lnTo>
                  <a:lnTo>
                    <a:pt x="6391656" y="515722"/>
                  </a:lnTo>
                  <a:lnTo>
                    <a:pt x="0" y="51572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1489" b="-191489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23932" y="-5532754"/>
              <a:ext cx="6391656" cy="5252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 dirty="0">
                  <a:solidFill>
                    <a:srgbClr val="1E293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EBITDA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026271" y="2786159"/>
            <a:ext cx="16277231" cy="3079531"/>
            <a:chOff x="0" y="0"/>
            <a:chExt cx="21647302" cy="3778098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1647277" cy="3777996"/>
            </a:xfrm>
            <a:custGeom>
              <a:avLst/>
              <a:gdLst/>
              <a:ahLst/>
              <a:cxnLst/>
              <a:rect l="l" t="t" r="r" b="b"/>
              <a:pathLst>
                <a:path w="21647277" h="3777996">
                  <a:moveTo>
                    <a:pt x="0" y="124079"/>
                  </a:moveTo>
                  <a:cubicBezTo>
                    <a:pt x="0" y="55499"/>
                    <a:pt x="55880" y="0"/>
                    <a:pt x="124714" y="0"/>
                  </a:cubicBezTo>
                  <a:lnTo>
                    <a:pt x="21522562" y="0"/>
                  </a:lnTo>
                  <a:lnTo>
                    <a:pt x="21522562" y="12700"/>
                  </a:lnTo>
                  <a:lnTo>
                    <a:pt x="21522562" y="0"/>
                  </a:lnTo>
                  <a:cubicBezTo>
                    <a:pt x="21591397" y="0"/>
                    <a:pt x="21647277" y="55499"/>
                    <a:pt x="21647277" y="124079"/>
                  </a:cubicBezTo>
                  <a:lnTo>
                    <a:pt x="21634577" y="124079"/>
                  </a:lnTo>
                  <a:lnTo>
                    <a:pt x="21647277" y="124079"/>
                  </a:lnTo>
                  <a:lnTo>
                    <a:pt x="21647277" y="3653917"/>
                  </a:lnTo>
                  <a:lnTo>
                    <a:pt x="21634577" y="3653917"/>
                  </a:lnTo>
                  <a:lnTo>
                    <a:pt x="21647277" y="3653917"/>
                  </a:lnTo>
                  <a:cubicBezTo>
                    <a:pt x="21647277" y="3722497"/>
                    <a:pt x="21591397" y="3777996"/>
                    <a:pt x="21522562" y="3777996"/>
                  </a:cubicBezTo>
                  <a:lnTo>
                    <a:pt x="21522562" y="3765296"/>
                  </a:lnTo>
                  <a:lnTo>
                    <a:pt x="21522562" y="3777996"/>
                  </a:lnTo>
                  <a:lnTo>
                    <a:pt x="124714" y="3777996"/>
                  </a:lnTo>
                  <a:lnTo>
                    <a:pt x="124714" y="3765296"/>
                  </a:lnTo>
                  <a:lnTo>
                    <a:pt x="124714" y="3777996"/>
                  </a:lnTo>
                  <a:cubicBezTo>
                    <a:pt x="55880" y="3777996"/>
                    <a:pt x="0" y="3722497"/>
                    <a:pt x="0" y="3653917"/>
                  </a:cubicBezTo>
                  <a:lnTo>
                    <a:pt x="0" y="124079"/>
                  </a:lnTo>
                  <a:lnTo>
                    <a:pt x="12700" y="124079"/>
                  </a:lnTo>
                  <a:lnTo>
                    <a:pt x="0" y="124079"/>
                  </a:lnTo>
                  <a:moveTo>
                    <a:pt x="25400" y="124079"/>
                  </a:moveTo>
                  <a:lnTo>
                    <a:pt x="25400" y="3653917"/>
                  </a:lnTo>
                  <a:lnTo>
                    <a:pt x="12700" y="3653917"/>
                  </a:lnTo>
                  <a:lnTo>
                    <a:pt x="25400" y="3653917"/>
                  </a:lnTo>
                  <a:cubicBezTo>
                    <a:pt x="25400" y="3708400"/>
                    <a:pt x="69850" y="3752596"/>
                    <a:pt x="124714" y="3752596"/>
                  </a:cubicBezTo>
                  <a:lnTo>
                    <a:pt x="21522562" y="3752596"/>
                  </a:lnTo>
                  <a:cubicBezTo>
                    <a:pt x="21577553" y="3752596"/>
                    <a:pt x="21621877" y="3708273"/>
                    <a:pt x="21621877" y="3653917"/>
                  </a:cubicBezTo>
                  <a:lnTo>
                    <a:pt x="21621877" y="124079"/>
                  </a:lnTo>
                  <a:cubicBezTo>
                    <a:pt x="21621877" y="69596"/>
                    <a:pt x="21577427" y="25400"/>
                    <a:pt x="21522562" y="25400"/>
                  </a:cubicBezTo>
                  <a:lnTo>
                    <a:pt x="124714" y="25400"/>
                  </a:lnTo>
                  <a:lnTo>
                    <a:pt x="124714" y="12700"/>
                  </a:lnTo>
                  <a:lnTo>
                    <a:pt x="124714" y="25400"/>
                  </a:lnTo>
                  <a:cubicBezTo>
                    <a:pt x="69850" y="25400"/>
                    <a:pt x="25400" y="69723"/>
                    <a:pt x="25400" y="124079"/>
                  </a:cubicBez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4270126" y="11086643"/>
            <a:ext cx="3939235" cy="257861"/>
            <a:chOff x="0" y="0"/>
            <a:chExt cx="5252314" cy="343814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5252314" cy="343814"/>
            </a:xfrm>
            <a:custGeom>
              <a:avLst/>
              <a:gdLst/>
              <a:ahLst/>
              <a:cxnLst/>
              <a:rect l="l" t="t" r="r" b="b"/>
              <a:pathLst>
                <a:path w="5252314" h="343814">
                  <a:moveTo>
                    <a:pt x="0" y="0"/>
                  </a:moveTo>
                  <a:lnTo>
                    <a:pt x="5252314" y="0"/>
                  </a:lnTo>
                  <a:lnTo>
                    <a:pt x="5252314" y="343814"/>
                  </a:lnTo>
                  <a:lnTo>
                    <a:pt x="0" y="34381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7665" b="-247665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9525"/>
              <a:ext cx="5252314" cy="3533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4748B"/>
                  </a:solidFill>
                  <a:latin typeface="Open Sans"/>
                  <a:ea typeface="Open Sans"/>
                  <a:cs typeface="Open Sans"/>
                  <a:sym typeface="Open Sans"/>
                </a:rPr>
                <a:t>Documento Interno - Grupo BEEA © 2026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-9525" y="962939"/>
            <a:ext cx="18306593" cy="61570"/>
            <a:chOff x="0" y="0"/>
            <a:chExt cx="24408790" cy="82093"/>
          </a:xfrm>
        </p:grpSpPr>
        <p:sp>
          <p:nvSpPr>
            <p:cNvPr id="42" name="Freeform 42"/>
            <p:cNvSpPr/>
            <p:nvPr/>
          </p:nvSpPr>
          <p:spPr>
            <a:xfrm>
              <a:off x="12700" y="12700"/>
              <a:ext cx="24383364" cy="56642"/>
            </a:xfrm>
            <a:custGeom>
              <a:avLst/>
              <a:gdLst/>
              <a:ahLst/>
              <a:cxnLst/>
              <a:rect l="l" t="t" r="r" b="b"/>
              <a:pathLst>
                <a:path w="24383364" h="56642">
                  <a:moveTo>
                    <a:pt x="0" y="0"/>
                  </a:moveTo>
                  <a:lnTo>
                    <a:pt x="24383364" y="0"/>
                  </a:lnTo>
                  <a:lnTo>
                    <a:pt x="24383364" y="56642"/>
                  </a:lnTo>
                  <a:lnTo>
                    <a:pt x="0" y="56642"/>
                  </a:lnTo>
                  <a:close/>
                </a:path>
              </a:pathLst>
            </a:custGeom>
            <a:solidFill>
              <a:srgbClr val="002B49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-228600" y="0"/>
            <a:ext cx="11353800" cy="695611"/>
            <a:chOff x="-1257605" y="0"/>
            <a:chExt cx="13004799" cy="927481"/>
          </a:xfrm>
        </p:grpSpPr>
        <p:sp>
          <p:nvSpPr>
            <p:cNvPr id="44" name="Freeform 44"/>
            <p:cNvSpPr/>
            <p:nvPr/>
          </p:nvSpPr>
          <p:spPr>
            <a:xfrm>
              <a:off x="-1257605" y="126467"/>
              <a:ext cx="7430414" cy="801014"/>
            </a:xfrm>
            <a:custGeom>
              <a:avLst/>
              <a:gdLst/>
              <a:ahLst/>
              <a:cxnLst/>
              <a:rect l="l" t="t" r="r" b="b"/>
              <a:pathLst>
                <a:path w="7430414" h="801014">
                  <a:moveTo>
                    <a:pt x="0" y="0"/>
                  </a:moveTo>
                  <a:lnTo>
                    <a:pt x="7430414" y="0"/>
                  </a:lnTo>
                  <a:lnTo>
                    <a:pt x="7430414" y="801014"/>
                  </a:lnTo>
                  <a:lnTo>
                    <a:pt x="0" y="80101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0748" b="-130748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0"/>
              <a:ext cx="11747194" cy="80101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779"/>
                </a:lnSpc>
              </a:pPr>
              <a:r>
                <a:rPr lang="en-US" sz="3150" b="1" dirty="0" err="1">
                  <a:solidFill>
                    <a:srgbClr val="002B4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Indicadores</a:t>
              </a:r>
              <a:r>
                <a:rPr lang="en-US" sz="3150" b="1" dirty="0">
                  <a:solidFill>
                    <a:srgbClr val="002B4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 — EBITDA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705079" y="472059"/>
            <a:ext cx="5604107" cy="373980"/>
            <a:chOff x="0" y="0"/>
            <a:chExt cx="7472142" cy="49864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7430414" cy="400508"/>
            </a:xfrm>
            <a:custGeom>
              <a:avLst/>
              <a:gdLst/>
              <a:ahLst/>
              <a:cxnLst/>
              <a:rect l="l" t="t" r="r" b="b"/>
              <a:pathLst>
                <a:path w="7430414" h="400508">
                  <a:moveTo>
                    <a:pt x="0" y="0"/>
                  </a:moveTo>
                  <a:lnTo>
                    <a:pt x="7430414" y="0"/>
                  </a:lnTo>
                  <a:lnTo>
                    <a:pt x="7430414" y="400508"/>
                  </a:lnTo>
                  <a:lnTo>
                    <a:pt x="0" y="4005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11495" b="-311495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1728" y="88608"/>
              <a:ext cx="7430414" cy="41003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spc="112" dirty="0">
                  <a:solidFill>
                    <a:srgbClr val="55555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Monitoramento Quadrimestre (Jan/Fev/Mar/Abr)</a:t>
              </a:r>
            </a:p>
          </p:txBody>
        </p:sp>
      </p:grpSp>
      <p:sp>
        <p:nvSpPr>
          <p:cNvPr id="49" name="Freeform 49"/>
          <p:cNvSpPr/>
          <p:nvPr/>
        </p:nvSpPr>
        <p:spPr>
          <a:xfrm>
            <a:off x="14883232" y="366964"/>
            <a:ext cx="3083905" cy="513984"/>
          </a:xfrm>
          <a:custGeom>
            <a:avLst/>
            <a:gdLst/>
            <a:ahLst/>
            <a:cxnLst/>
            <a:rect l="l" t="t" r="r" b="b"/>
            <a:pathLst>
              <a:path w="3083905" h="513984">
                <a:moveTo>
                  <a:pt x="0" y="0"/>
                </a:moveTo>
                <a:lnTo>
                  <a:pt x="3083905" y="0"/>
                </a:lnTo>
                <a:lnTo>
                  <a:pt x="3083905" y="513984"/>
                </a:lnTo>
                <a:lnTo>
                  <a:pt x="0" y="5139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6" name="Imagem 5" descr="Forma&#10;&#10;Descrição gerada automaticamente com confiança baixa">
            <a:extLst>
              <a:ext uri="{FF2B5EF4-FFF2-40B4-BE49-F238E27FC236}">
                <a16:creationId xmlns:a16="http://schemas.microsoft.com/office/drawing/2014/main" id="{A56D63B8-BF15-25AA-6731-4D9591E2B1C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075" y="1384554"/>
            <a:ext cx="479150" cy="47915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37B9EFBC-8E38-6C1B-4D15-BB086BF478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5310" y="2835725"/>
            <a:ext cx="16147535" cy="2749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3332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F879C-7DE7-BFA7-8A93-61A3DCCC9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>
            <a:extLst>
              <a:ext uri="{FF2B5EF4-FFF2-40B4-BE49-F238E27FC236}">
                <a16:creationId xmlns:a16="http://schemas.microsoft.com/office/drawing/2014/main" id="{0A1AA417-026D-63B0-B3DB-6CF8647F9C31}"/>
              </a:ext>
            </a:extLst>
          </p:cNvPr>
          <p:cNvGrpSpPr/>
          <p:nvPr/>
        </p:nvGrpSpPr>
        <p:grpSpPr>
          <a:xfrm>
            <a:off x="838278" y="1580349"/>
            <a:ext cx="4214927" cy="4000957"/>
            <a:chOff x="0" y="0"/>
            <a:chExt cx="5619902" cy="533461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CAC5DBA-A176-0806-EB15-55AE3DF379E7}"/>
                </a:ext>
              </a:extLst>
            </p:cNvPr>
            <p:cNvSpPr/>
            <p:nvPr/>
          </p:nvSpPr>
          <p:spPr>
            <a:xfrm>
              <a:off x="0" y="0"/>
              <a:ext cx="5619877" cy="5334635"/>
            </a:xfrm>
            <a:custGeom>
              <a:avLst/>
              <a:gdLst/>
              <a:ahLst/>
              <a:cxnLst/>
              <a:rect l="l" t="t" r="r" b="b"/>
              <a:pathLst>
                <a:path w="5619877" h="5334635">
                  <a:moveTo>
                    <a:pt x="0" y="156718"/>
                  </a:moveTo>
                  <a:cubicBezTo>
                    <a:pt x="0" y="70231"/>
                    <a:pt x="70231" y="0"/>
                    <a:pt x="156718" y="0"/>
                  </a:cubicBezTo>
                  <a:lnTo>
                    <a:pt x="5463159" y="0"/>
                  </a:lnTo>
                  <a:cubicBezTo>
                    <a:pt x="5549773" y="0"/>
                    <a:pt x="5619877" y="70231"/>
                    <a:pt x="5619877" y="156718"/>
                  </a:cubicBezTo>
                  <a:lnTo>
                    <a:pt x="5619877" y="5177917"/>
                  </a:lnTo>
                  <a:cubicBezTo>
                    <a:pt x="5619877" y="5264531"/>
                    <a:pt x="5549646" y="5334635"/>
                    <a:pt x="5463159" y="5334635"/>
                  </a:cubicBezTo>
                  <a:lnTo>
                    <a:pt x="156718" y="5334635"/>
                  </a:lnTo>
                  <a:cubicBezTo>
                    <a:pt x="70231" y="5334635"/>
                    <a:pt x="0" y="5264404"/>
                    <a:pt x="0" y="5177917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B1B816E9-B688-050A-2B6A-00685122B2C6}"/>
              </a:ext>
            </a:extLst>
          </p:cNvPr>
          <p:cNvGrpSpPr/>
          <p:nvPr/>
        </p:nvGrpSpPr>
        <p:grpSpPr>
          <a:xfrm>
            <a:off x="258028" y="1277224"/>
            <a:ext cx="4651907" cy="120159"/>
            <a:chOff x="0" y="0"/>
            <a:chExt cx="5645302" cy="102210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10FE6530-F709-12CE-672C-D49C18BDCDC7}"/>
                </a:ext>
              </a:extLst>
            </p:cNvPr>
            <p:cNvSpPr/>
            <p:nvPr/>
          </p:nvSpPr>
          <p:spPr>
            <a:xfrm>
              <a:off x="12700" y="12700"/>
              <a:ext cx="5620004" cy="76709"/>
            </a:xfrm>
            <a:custGeom>
              <a:avLst/>
              <a:gdLst/>
              <a:ahLst/>
              <a:cxnLst/>
              <a:rect l="l" t="t" r="r" b="b"/>
              <a:pathLst>
                <a:path w="5620004" h="76709">
                  <a:moveTo>
                    <a:pt x="0" y="38354"/>
                  </a:moveTo>
                  <a:cubicBezTo>
                    <a:pt x="0" y="17145"/>
                    <a:pt x="22733" y="0"/>
                    <a:pt x="50927" y="0"/>
                  </a:cubicBezTo>
                  <a:lnTo>
                    <a:pt x="5569077" y="0"/>
                  </a:lnTo>
                  <a:cubicBezTo>
                    <a:pt x="5597144" y="0"/>
                    <a:pt x="5620004" y="17145"/>
                    <a:pt x="5620004" y="38354"/>
                  </a:cubicBezTo>
                  <a:cubicBezTo>
                    <a:pt x="5620004" y="59563"/>
                    <a:pt x="5597271" y="76708"/>
                    <a:pt x="5569077" y="76708"/>
                  </a:cubicBezTo>
                  <a:lnTo>
                    <a:pt x="50927" y="76708"/>
                  </a:lnTo>
                  <a:cubicBezTo>
                    <a:pt x="22733" y="76835"/>
                    <a:pt x="0" y="59563"/>
                    <a:pt x="0" y="38354"/>
                  </a:cubicBezTo>
                  <a:close/>
                </a:path>
              </a:pathLst>
            </a:custGeom>
            <a:solidFill>
              <a:srgbClr val="EF4444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963B5F2A-8707-4B93-8618-52FA2C811DA1}"/>
              </a:ext>
            </a:extLst>
          </p:cNvPr>
          <p:cNvGrpSpPr/>
          <p:nvPr/>
        </p:nvGrpSpPr>
        <p:grpSpPr>
          <a:xfrm>
            <a:off x="178700" y="1541273"/>
            <a:ext cx="3050774" cy="431088"/>
            <a:chOff x="-42063" y="-18948"/>
            <a:chExt cx="5095037" cy="476148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BD2D3BA7-6883-D25A-CF6E-86E17BF402B8}"/>
                </a:ext>
              </a:extLst>
            </p:cNvPr>
            <p:cNvSpPr/>
            <p:nvPr/>
          </p:nvSpPr>
          <p:spPr>
            <a:xfrm>
              <a:off x="-42063" y="-18948"/>
              <a:ext cx="5052974" cy="457200"/>
            </a:xfrm>
            <a:custGeom>
              <a:avLst/>
              <a:gdLst/>
              <a:ahLst/>
              <a:cxnLst/>
              <a:rect l="l" t="t" r="r" b="b"/>
              <a:pathLst>
                <a:path w="5052974" h="457200">
                  <a:moveTo>
                    <a:pt x="0" y="0"/>
                  </a:moveTo>
                  <a:lnTo>
                    <a:pt x="5052974" y="0"/>
                  </a:lnTo>
                  <a:lnTo>
                    <a:pt x="5052974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5348" b="-165348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D6120CB2-D240-4EBA-C784-334D4FF2E3C0}"/>
                </a:ext>
              </a:extLst>
            </p:cNvPr>
            <p:cNvSpPr txBox="1"/>
            <p:nvPr/>
          </p:nvSpPr>
          <p:spPr>
            <a:xfrm>
              <a:off x="0" y="0"/>
              <a:ext cx="5052974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 fontAlgn="ctr"/>
              <a:r>
                <a:rPr lang="pt-BR" b="1" dirty="0">
                  <a:solidFill>
                    <a:schemeClr val="tx2">
                      <a:lumMod val="50000"/>
                    </a:schemeClr>
                  </a:solidFill>
                  <a:highlight>
                    <a:srgbClr val="FFFF00"/>
                  </a:highlight>
                  <a:latin typeface="Calibri" panose="020F0502020204030204" pitchFamily="34" charset="0"/>
                </a:rPr>
                <a:t>EBITDA</a:t>
              </a:r>
            </a:p>
          </p:txBody>
        </p: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9EB97537-C8FF-615D-C1D7-99B420BE3C0E}"/>
              </a:ext>
            </a:extLst>
          </p:cNvPr>
          <p:cNvGrpSpPr/>
          <p:nvPr/>
        </p:nvGrpSpPr>
        <p:grpSpPr>
          <a:xfrm>
            <a:off x="470770" y="2119166"/>
            <a:ext cx="2970574" cy="311309"/>
            <a:chOff x="-705501" y="-127958"/>
            <a:chExt cx="3960765" cy="415080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020DFF14-AE90-5E65-2A98-5987BE5219ED}"/>
                </a:ext>
              </a:extLst>
            </p:cNvPr>
            <p:cNvSpPr/>
            <p:nvPr/>
          </p:nvSpPr>
          <p:spPr>
            <a:xfrm>
              <a:off x="0" y="0"/>
              <a:ext cx="3255264" cy="287122"/>
            </a:xfrm>
            <a:custGeom>
              <a:avLst/>
              <a:gdLst/>
              <a:ahLst/>
              <a:cxnLst/>
              <a:rect l="l" t="t" r="r" b="b"/>
              <a:pathLst>
                <a:path w="3255264" h="287122">
                  <a:moveTo>
                    <a:pt x="0" y="0"/>
                  </a:moveTo>
                  <a:lnTo>
                    <a:pt x="3255264" y="0"/>
                  </a:lnTo>
                  <a:lnTo>
                    <a:pt x="3255264" y="287122"/>
                  </a:lnTo>
                  <a:lnTo>
                    <a:pt x="0" y="28712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0912" b="-170912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0D9CD9F9-EB29-14DA-994E-0B0F154AF624}"/>
                </a:ext>
              </a:extLst>
            </p:cNvPr>
            <p:cNvSpPr txBox="1"/>
            <p:nvPr/>
          </p:nvSpPr>
          <p:spPr>
            <a:xfrm>
              <a:off x="-705501" y="-127958"/>
              <a:ext cx="3255264" cy="2871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439"/>
                </a:lnSpc>
              </a:pPr>
              <a:r>
                <a:rPr lang="en-US" sz="1200" dirty="0">
                  <a:solidFill>
                    <a:srgbClr val="64748B"/>
                  </a:solidFill>
                  <a:latin typeface="Open Sans"/>
                  <a:ea typeface="Open Sans"/>
                  <a:cs typeface="Open Sans"/>
                  <a:sym typeface="Open Sans"/>
                </a:rPr>
                <a:t>Departamento Financeiro</a:t>
              </a:r>
            </a:p>
          </p:txBody>
        </p:sp>
      </p:grpSp>
      <p:grpSp>
        <p:nvGrpSpPr>
          <p:cNvPr id="18" name="Group 18">
            <a:extLst>
              <a:ext uri="{FF2B5EF4-FFF2-40B4-BE49-F238E27FC236}">
                <a16:creationId xmlns:a16="http://schemas.microsoft.com/office/drawing/2014/main" id="{2A018965-596A-EDFC-45B7-AD5622DDEE31}"/>
              </a:ext>
            </a:extLst>
          </p:cNvPr>
          <p:cNvGrpSpPr/>
          <p:nvPr/>
        </p:nvGrpSpPr>
        <p:grpSpPr>
          <a:xfrm>
            <a:off x="1061660" y="2871282"/>
            <a:ext cx="710428" cy="252316"/>
            <a:chOff x="0" y="-22733"/>
            <a:chExt cx="947237" cy="336421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C852DB7D-D645-90D2-A1DC-4511E5F2C070}"/>
                </a:ext>
              </a:extLst>
            </p:cNvPr>
            <p:cNvSpPr/>
            <p:nvPr/>
          </p:nvSpPr>
          <p:spPr>
            <a:xfrm>
              <a:off x="0" y="0"/>
              <a:ext cx="685800" cy="267004"/>
            </a:xfrm>
            <a:custGeom>
              <a:avLst/>
              <a:gdLst/>
              <a:ahLst/>
              <a:cxnLst/>
              <a:rect l="l" t="t" r="r" b="b"/>
              <a:pathLst>
                <a:path w="685800" h="267004">
                  <a:moveTo>
                    <a:pt x="0" y="0"/>
                  </a:moveTo>
                  <a:lnTo>
                    <a:pt x="685800" y="0"/>
                  </a:lnTo>
                  <a:lnTo>
                    <a:pt x="685800" y="267004"/>
                  </a:lnTo>
                  <a:lnTo>
                    <a:pt x="0" y="2670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7" b="-47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20" name="TextBox 20">
              <a:extLst>
                <a:ext uri="{FF2B5EF4-FFF2-40B4-BE49-F238E27FC236}">
                  <a16:creationId xmlns:a16="http://schemas.microsoft.com/office/drawing/2014/main" id="{44A12D47-33DE-6316-9C78-4F94078AFAC8}"/>
                </a:ext>
              </a:extLst>
            </p:cNvPr>
            <p:cNvSpPr txBox="1"/>
            <p:nvPr/>
          </p:nvSpPr>
          <p:spPr>
            <a:xfrm>
              <a:off x="261437" y="-22733"/>
              <a:ext cx="685800" cy="33642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439"/>
                </a:lnSpc>
              </a:pPr>
              <a:r>
                <a:rPr lang="en-US" sz="1200" b="1" dirty="0">
                  <a:solidFill>
                    <a:srgbClr val="64748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META</a:t>
              </a:r>
            </a:p>
          </p:txBody>
        </p:sp>
      </p:grpSp>
      <p:sp>
        <p:nvSpPr>
          <p:cNvPr id="23" name="TextBox 23">
            <a:extLst>
              <a:ext uri="{FF2B5EF4-FFF2-40B4-BE49-F238E27FC236}">
                <a16:creationId xmlns:a16="http://schemas.microsoft.com/office/drawing/2014/main" id="{8E1B3946-D6AB-C3E4-1B98-611CE2D8526F}"/>
              </a:ext>
            </a:extLst>
          </p:cNvPr>
          <p:cNvSpPr txBox="1"/>
          <p:nvPr/>
        </p:nvSpPr>
        <p:spPr>
          <a:xfrm>
            <a:off x="1194493" y="3185187"/>
            <a:ext cx="1172718" cy="393935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l">
              <a:lnSpc>
                <a:spcPts val="2340"/>
              </a:lnSpc>
            </a:pPr>
            <a:r>
              <a:rPr lang="en-US" sz="2400" b="1" dirty="0">
                <a:solidFill>
                  <a:srgbClr val="0F172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20%</a:t>
            </a:r>
          </a:p>
        </p:txBody>
      </p:sp>
      <p:grpSp>
        <p:nvGrpSpPr>
          <p:cNvPr id="24" name="Group 24">
            <a:extLst>
              <a:ext uri="{FF2B5EF4-FFF2-40B4-BE49-F238E27FC236}">
                <a16:creationId xmlns:a16="http://schemas.microsoft.com/office/drawing/2014/main" id="{D2840F3E-3F78-681E-AB75-02C3A54C6AEA}"/>
              </a:ext>
            </a:extLst>
          </p:cNvPr>
          <p:cNvGrpSpPr/>
          <p:nvPr/>
        </p:nvGrpSpPr>
        <p:grpSpPr>
          <a:xfrm>
            <a:off x="3239841" y="2890698"/>
            <a:ext cx="901141" cy="200254"/>
            <a:chOff x="0" y="0"/>
            <a:chExt cx="1201522" cy="267005"/>
          </a:xfrm>
        </p:grpSpPr>
        <p:sp>
          <p:nvSpPr>
            <p:cNvPr id="25" name="Freeform 25">
              <a:extLst>
                <a:ext uri="{FF2B5EF4-FFF2-40B4-BE49-F238E27FC236}">
                  <a16:creationId xmlns:a16="http://schemas.microsoft.com/office/drawing/2014/main" id="{46403F30-953C-295B-90D4-103070D1F900}"/>
                </a:ext>
              </a:extLst>
            </p:cNvPr>
            <p:cNvSpPr/>
            <p:nvPr/>
          </p:nvSpPr>
          <p:spPr>
            <a:xfrm>
              <a:off x="0" y="0"/>
              <a:ext cx="1201522" cy="267004"/>
            </a:xfrm>
            <a:custGeom>
              <a:avLst/>
              <a:gdLst/>
              <a:ahLst/>
              <a:cxnLst/>
              <a:rect l="l" t="t" r="r" b="b"/>
              <a:pathLst>
                <a:path w="1201522" h="267004">
                  <a:moveTo>
                    <a:pt x="0" y="0"/>
                  </a:moveTo>
                  <a:lnTo>
                    <a:pt x="1201522" y="0"/>
                  </a:lnTo>
                  <a:lnTo>
                    <a:pt x="1201522" y="267004"/>
                  </a:lnTo>
                  <a:lnTo>
                    <a:pt x="0" y="2670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682" b="-37683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26" name="TextBox 26">
              <a:extLst>
                <a:ext uri="{FF2B5EF4-FFF2-40B4-BE49-F238E27FC236}">
                  <a16:creationId xmlns:a16="http://schemas.microsoft.com/office/drawing/2014/main" id="{66065B26-198A-8F0A-20FE-0024DE4B5E19}"/>
                </a:ext>
              </a:extLst>
            </p:cNvPr>
            <p:cNvSpPr txBox="1"/>
            <p:nvPr/>
          </p:nvSpPr>
          <p:spPr>
            <a:xfrm>
              <a:off x="0" y="0"/>
              <a:ext cx="1201522" cy="2670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439"/>
                </a:lnSpc>
              </a:pPr>
              <a:r>
                <a:rPr lang="en-US" sz="1200" b="1" dirty="0">
                  <a:solidFill>
                    <a:srgbClr val="64748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REALIZADO</a:t>
              </a:r>
            </a:p>
          </p:txBody>
        </p:sp>
      </p:grpSp>
      <p:grpSp>
        <p:nvGrpSpPr>
          <p:cNvPr id="27" name="Group 27">
            <a:extLst>
              <a:ext uri="{FF2B5EF4-FFF2-40B4-BE49-F238E27FC236}">
                <a16:creationId xmlns:a16="http://schemas.microsoft.com/office/drawing/2014/main" id="{CC5673EB-A91C-1AA0-712C-A8A1642D7F7B}"/>
              </a:ext>
            </a:extLst>
          </p:cNvPr>
          <p:cNvGrpSpPr/>
          <p:nvPr/>
        </p:nvGrpSpPr>
        <p:grpSpPr>
          <a:xfrm>
            <a:off x="2368296" y="3112872"/>
            <a:ext cx="2280056" cy="478080"/>
            <a:chOff x="-863803" y="-8195"/>
            <a:chExt cx="3040075" cy="637441"/>
          </a:xfrm>
        </p:grpSpPr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17275AFA-D6CC-CF64-14D9-69842DF11795}"/>
                </a:ext>
              </a:extLst>
            </p:cNvPr>
            <p:cNvSpPr/>
            <p:nvPr/>
          </p:nvSpPr>
          <p:spPr>
            <a:xfrm>
              <a:off x="0" y="0"/>
              <a:ext cx="2176272" cy="629108"/>
            </a:xfrm>
            <a:custGeom>
              <a:avLst/>
              <a:gdLst/>
              <a:ahLst/>
              <a:cxnLst/>
              <a:rect l="l" t="t" r="r" b="b"/>
              <a:pathLst>
                <a:path w="2176272" h="629108">
                  <a:moveTo>
                    <a:pt x="0" y="0"/>
                  </a:moveTo>
                  <a:lnTo>
                    <a:pt x="2176272" y="0"/>
                  </a:lnTo>
                  <a:lnTo>
                    <a:pt x="2176272" y="629108"/>
                  </a:lnTo>
                  <a:lnTo>
                    <a:pt x="0" y="6291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404" b="-17404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29" name="TextBox 29">
              <a:extLst>
                <a:ext uri="{FF2B5EF4-FFF2-40B4-BE49-F238E27FC236}">
                  <a16:creationId xmlns:a16="http://schemas.microsoft.com/office/drawing/2014/main" id="{9CC73DEB-43CC-22AF-A493-329AB743A1A1}"/>
                </a:ext>
              </a:extLst>
            </p:cNvPr>
            <p:cNvSpPr txBox="1"/>
            <p:nvPr/>
          </p:nvSpPr>
          <p:spPr>
            <a:xfrm>
              <a:off x="-863803" y="-8195"/>
              <a:ext cx="2176272" cy="6374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879"/>
                </a:lnSpc>
              </a:pPr>
              <a:r>
                <a:rPr lang="en-US" sz="2400" b="1" dirty="0">
                  <a:solidFill>
                    <a:srgbClr val="EF444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21%</a:t>
              </a:r>
            </a:p>
          </p:txBody>
        </p:sp>
      </p:grpSp>
      <p:grpSp>
        <p:nvGrpSpPr>
          <p:cNvPr id="30" name="Group 30">
            <a:extLst>
              <a:ext uri="{FF2B5EF4-FFF2-40B4-BE49-F238E27FC236}">
                <a16:creationId xmlns:a16="http://schemas.microsoft.com/office/drawing/2014/main" id="{474C8E33-2B00-0B9A-838A-E411ADE7AD5F}"/>
              </a:ext>
            </a:extLst>
          </p:cNvPr>
          <p:cNvGrpSpPr/>
          <p:nvPr/>
        </p:nvGrpSpPr>
        <p:grpSpPr>
          <a:xfrm>
            <a:off x="347868" y="3626686"/>
            <a:ext cx="4301809" cy="432183"/>
            <a:chOff x="0" y="0"/>
            <a:chExt cx="4882693" cy="464312"/>
          </a:xfrm>
        </p:grpSpPr>
        <p:sp>
          <p:nvSpPr>
            <p:cNvPr id="31" name="Freeform 31">
              <a:extLst>
                <a:ext uri="{FF2B5EF4-FFF2-40B4-BE49-F238E27FC236}">
                  <a16:creationId xmlns:a16="http://schemas.microsoft.com/office/drawing/2014/main" id="{D1B52683-A58B-3989-33A0-FFF763492E35}"/>
                </a:ext>
              </a:extLst>
            </p:cNvPr>
            <p:cNvSpPr/>
            <p:nvPr/>
          </p:nvSpPr>
          <p:spPr>
            <a:xfrm>
              <a:off x="12700" y="12700"/>
              <a:ext cx="4857242" cy="438912"/>
            </a:xfrm>
            <a:custGeom>
              <a:avLst/>
              <a:gdLst/>
              <a:ahLst/>
              <a:cxnLst/>
              <a:rect l="l" t="t" r="r" b="b"/>
              <a:pathLst>
                <a:path w="4857242" h="438912">
                  <a:moveTo>
                    <a:pt x="0" y="219456"/>
                  </a:moveTo>
                  <a:cubicBezTo>
                    <a:pt x="0" y="98298"/>
                    <a:pt x="103378" y="0"/>
                    <a:pt x="230886" y="0"/>
                  </a:cubicBezTo>
                  <a:lnTo>
                    <a:pt x="4626356" y="0"/>
                  </a:lnTo>
                  <a:cubicBezTo>
                    <a:pt x="4753864" y="0"/>
                    <a:pt x="4857242" y="98298"/>
                    <a:pt x="4857242" y="219456"/>
                  </a:cubicBezTo>
                  <a:cubicBezTo>
                    <a:pt x="4857242" y="340614"/>
                    <a:pt x="4753864" y="438912"/>
                    <a:pt x="4626356" y="438912"/>
                  </a:cubicBezTo>
                  <a:lnTo>
                    <a:pt x="230886" y="438912"/>
                  </a:lnTo>
                  <a:cubicBezTo>
                    <a:pt x="10337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FEE2E2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34" name="TextBox 34">
            <a:extLst>
              <a:ext uri="{FF2B5EF4-FFF2-40B4-BE49-F238E27FC236}">
                <a16:creationId xmlns:a16="http://schemas.microsoft.com/office/drawing/2014/main" id="{1202C3FA-2952-52CB-232F-0CB0F517B6B6}"/>
              </a:ext>
            </a:extLst>
          </p:cNvPr>
          <p:cNvSpPr txBox="1"/>
          <p:nvPr/>
        </p:nvSpPr>
        <p:spPr>
          <a:xfrm>
            <a:off x="440969" y="3580265"/>
            <a:ext cx="3758184" cy="565712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ts val="1439"/>
              </a:lnSpc>
            </a:pPr>
            <a:r>
              <a:rPr lang="en-US" sz="1600" b="1" dirty="0">
                <a:solidFill>
                  <a:srgbClr val="991B1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Desvio: +1%</a:t>
            </a:r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1543B2C8-2B98-F6C4-06FA-3FFF1DA39C75}"/>
              </a:ext>
            </a:extLst>
          </p:cNvPr>
          <p:cNvGrpSpPr/>
          <p:nvPr/>
        </p:nvGrpSpPr>
        <p:grpSpPr>
          <a:xfrm>
            <a:off x="178700" y="4482094"/>
            <a:ext cx="7118635" cy="2278639"/>
            <a:chOff x="-10344" y="0"/>
            <a:chExt cx="5021256" cy="1271197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12DC8BDE-96FE-7F69-70DF-1FB747A0535F}"/>
                </a:ext>
              </a:extLst>
            </p:cNvPr>
            <p:cNvSpPr/>
            <p:nvPr/>
          </p:nvSpPr>
          <p:spPr>
            <a:xfrm>
              <a:off x="0" y="0"/>
              <a:ext cx="5010912" cy="495604"/>
            </a:xfrm>
            <a:custGeom>
              <a:avLst/>
              <a:gdLst/>
              <a:ahLst/>
              <a:cxnLst/>
              <a:rect l="l" t="t" r="r" b="b"/>
              <a:pathLst>
                <a:path w="5010912" h="495604">
                  <a:moveTo>
                    <a:pt x="0" y="0"/>
                  </a:moveTo>
                  <a:lnTo>
                    <a:pt x="5010912" y="0"/>
                  </a:lnTo>
                  <a:lnTo>
                    <a:pt x="5010912" y="495604"/>
                  </a:lnTo>
                  <a:lnTo>
                    <a:pt x="0" y="4956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7007" b="-147007"/>
              </a:stretch>
            </a:blipFill>
          </p:spPr>
          <p:txBody>
            <a:bodyPr/>
            <a:lstStyle/>
            <a:p>
              <a:pPr algn="just"/>
              <a:endParaRPr lang="pt-BR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D127CD13-C795-8312-9ECD-3E2F4D200621}"/>
                </a:ext>
              </a:extLst>
            </p:cNvPr>
            <p:cNvSpPr txBox="1"/>
            <p:nvPr/>
          </p:nvSpPr>
          <p:spPr>
            <a:xfrm>
              <a:off x="-10344" y="119070"/>
              <a:ext cx="3337261" cy="115212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just"/>
              <a:r>
                <a:rPr lang="pt-BR" sz="2800" b="1" dirty="0">
                  <a:solidFill>
                    <a:schemeClr val="bg1">
                      <a:lumMod val="65000"/>
                    </a:schemeClr>
                  </a:solidFill>
                  <a:effectLst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Fato:</a:t>
              </a:r>
              <a:r>
                <a:rPr lang="pt-BR" sz="2000" b="1" dirty="0">
                  <a:solidFill>
                    <a:schemeClr val="bg1">
                      <a:lumMod val="65000"/>
                    </a:schemeClr>
                  </a:solidFill>
                  <a:effectLst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pt-BR" sz="2000" b="1" dirty="0">
                  <a:solidFill>
                    <a:schemeClr val="bg1">
                      <a:lumMod val="65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A margem de EBITDA superou o valor orçado em um ponto percentual. Esse desempenho foi impulsionado pelo aumento no volume de vendas durante o período, especialmente favorecido pela campanha do Dia das Mães. No entanto, as vendas totais ainda ficaram 9 pontos percentuais abaixo do previsto</a:t>
              </a:r>
            </a:p>
          </p:txBody>
        </p:sp>
      </p:grpSp>
      <p:sp>
        <p:nvSpPr>
          <p:cNvPr id="65" name="Freeform 65">
            <a:extLst>
              <a:ext uri="{FF2B5EF4-FFF2-40B4-BE49-F238E27FC236}">
                <a16:creationId xmlns:a16="http://schemas.microsoft.com/office/drawing/2014/main" id="{DA7B5064-515A-BCC5-CC55-766811BE47B4}"/>
              </a:ext>
            </a:extLst>
          </p:cNvPr>
          <p:cNvSpPr/>
          <p:nvPr/>
        </p:nvSpPr>
        <p:spPr>
          <a:xfrm>
            <a:off x="6512357" y="1972361"/>
            <a:ext cx="1729587" cy="429311"/>
          </a:xfrm>
          <a:custGeom>
            <a:avLst/>
            <a:gdLst/>
            <a:ahLst/>
            <a:cxnLst/>
            <a:rect l="l" t="t" r="r" b="b"/>
            <a:pathLst>
              <a:path w="2306116" h="572414">
                <a:moveTo>
                  <a:pt x="0" y="0"/>
                </a:moveTo>
                <a:lnTo>
                  <a:pt x="2306116" y="0"/>
                </a:lnTo>
                <a:lnTo>
                  <a:pt x="2306116" y="572414"/>
                </a:lnTo>
                <a:lnTo>
                  <a:pt x="0" y="572414"/>
                </a:lnTo>
                <a:close/>
              </a:path>
            </a:pathLst>
          </a:custGeom>
          <a:blipFill>
            <a:blip r:embed="rId3">
              <a:alphaModFix amt="0"/>
            </a:blip>
            <a:stretch>
              <a:fillRect t="-28500" b="-28500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75" name="Freeform 75">
            <a:extLst>
              <a:ext uri="{FF2B5EF4-FFF2-40B4-BE49-F238E27FC236}">
                <a16:creationId xmlns:a16="http://schemas.microsoft.com/office/drawing/2014/main" id="{6CBAC134-557F-F628-C528-50743924360F}"/>
              </a:ext>
            </a:extLst>
          </p:cNvPr>
          <p:cNvSpPr/>
          <p:nvPr/>
        </p:nvSpPr>
        <p:spPr>
          <a:xfrm>
            <a:off x="10090861" y="1972361"/>
            <a:ext cx="1729587" cy="429311"/>
          </a:xfrm>
          <a:custGeom>
            <a:avLst/>
            <a:gdLst/>
            <a:ahLst/>
            <a:cxnLst/>
            <a:rect l="l" t="t" r="r" b="b"/>
            <a:pathLst>
              <a:path w="2306116" h="572414">
                <a:moveTo>
                  <a:pt x="0" y="0"/>
                </a:moveTo>
                <a:lnTo>
                  <a:pt x="2306116" y="0"/>
                </a:lnTo>
                <a:lnTo>
                  <a:pt x="2306116" y="572414"/>
                </a:lnTo>
                <a:lnTo>
                  <a:pt x="0" y="572414"/>
                </a:lnTo>
                <a:close/>
              </a:path>
            </a:pathLst>
          </a:custGeom>
          <a:blipFill>
            <a:blip r:embed="rId3">
              <a:alphaModFix amt="0"/>
            </a:blip>
            <a:stretch>
              <a:fillRect t="-28500" b="-28500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12" name="Freeform 112">
            <a:extLst>
              <a:ext uri="{FF2B5EF4-FFF2-40B4-BE49-F238E27FC236}">
                <a16:creationId xmlns:a16="http://schemas.microsoft.com/office/drawing/2014/main" id="{AC0BF172-DE81-3432-8C0D-CAC2810E9E08}"/>
              </a:ext>
            </a:extLst>
          </p:cNvPr>
          <p:cNvSpPr/>
          <p:nvPr/>
        </p:nvSpPr>
        <p:spPr>
          <a:xfrm>
            <a:off x="13670737" y="4515307"/>
            <a:ext cx="1758391" cy="200253"/>
          </a:xfrm>
          <a:custGeom>
            <a:avLst/>
            <a:gdLst/>
            <a:ahLst/>
            <a:cxnLst/>
            <a:rect l="l" t="t" r="r" b="b"/>
            <a:pathLst>
              <a:path w="2344522" h="267004">
                <a:moveTo>
                  <a:pt x="0" y="0"/>
                </a:moveTo>
                <a:lnTo>
                  <a:pt x="2344522" y="0"/>
                </a:lnTo>
                <a:lnTo>
                  <a:pt x="2344522" y="267004"/>
                </a:lnTo>
                <a:lnTo>
                  <a:pt x="0" y="267004"/>
                </a:lnTo>
                <a:close/>
              </a:path>
            </a:pathLst>
          </a:custGeom>
          <a:blipFill>
            <a:blip r:embed="rId3">
              <a:alphaModFix amt="0"/>
            </a:blip>
            <a:stretch>
              <a:fillRect t="-121095" b="-121095"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126" name="Group 126">
            <a:extLst>
              <a:ext uri="{FF2B5EF4-FFF2-40B4-BE49-F238E27FC236}">
                <a16:creationId xmlns:a16="http://schemas.microsoft.com/office/drawing/2014/main" id="{23612659-2B96-D9AA-F702-225DEA3AADBE}"/>
              </a:ext>
            </a:extLst>
          </p:cNvPr>
          <p:cNvGrpSpPr/>
          <p:nvPr/>
        </p:nvGrpSpPr>
        <p:grpSpPr>
          <a:xfrm>
            <a:off x="990371" y="6563182"/>
            <a:ext cx="276911" cy="276911"/>
            <a:chOff x="0" y="0"/>
            <a:chExt cx="369214" cy="369214"/>
          </a:xfrm>
        </p:grpSpPr>
        <p:sp>
          <p:nvSpPr>
            <p:cNvPr id="127" name="Freeform 127">
              <a:extLst>
                <a:ext uri="{FF2B5EF4-FFF2-40B4-BE49-F238E27FC236}">
                  <a16:creationId xmlns:a16="http://schemas.microsoft.com/office/drawing/2014/main" id="{51D9321D-7F70-FF8F-E51F-452F1E0F480B}"/>
                </a:ext>
              </a:extLst>
            </p:cNvPr>
            <p:cNvSpPr/>
            <p:nvPr/>
          </p:nvSpPr>
          <p:spPr>
            <a:xfrm>
              <a:off x="12700" y="12700"/>
              <a:ext cx="343789" cy="343789"/>
            </a:xfrm>
            <a:custGeom>
              <a:avLst/>
              <a:gdLst/>
              <a:ahLst/>
              <a:cxnLst/>
              <a:rect l="l" t="t" r="r" b="b"/>
              <a:pathLst>
                <a:path w="343789" h="343789">
                  <a:moveTo>
                    <a:pt x="0" y="171958"/>
                  </a:moveTo>
                  <a:cubicBezTo>
                    <a:pt x="0" y="76962"/>
                    <a:pt x="76962" y="0"/>
                    <a:pt x="171958" y="0"/>
                  </a:cubicBezTo>
                  <a:cubicBezTo>
                    <a:pt x="266954" y="0"/>
                    <a:pt x="343789" y="76962"/>
                    <a:pt x="343789" y="171958"/>
                  </a:cubicBezTo>
                  <a:cubicBezTo>
                    <a:pt x="343789" y="266954"/>
                    <a:pt x="266827" y="343789"/>
                    <a:pt x="171958" y="343789"/>
                  </a:cubicBezTo>
                  <a:cubicBezTo>
                    <a:pt x="77089" y="343789"/>
                    <a:pt x="0" y="266827"/>
                    <a:pt x="0" y="171958"/>
                  </a:cubicBezTo>
                  <a:close/>
                </a:path>
              </a:pathLst>
            </a:custGeom>
            <a:solidFill>
              <a:srgbClr val="FFFFFF">
                <a:alpha val="3922"/>
              </a:srgbClr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28" name="Group 128">
            <a:extLst>
              <a:ext uri="{FF2B5EF4-FFF2-40B4-BE49-F238E27FC236}">
                <a16:creationId xmlns:a16="http://schemas.microsoft.com/office/drawing/2014/main" id="{46E98141-6DEF-638F-27FF-25EC72C37778}"/>
              </a:ext>
            </a:extLst>
          </p:cNvPr>
          <p:cNvGrpSpPr/>
          <p:nvPr/>
        </p:nvGrpSpPr>
        <p:grpSpPr>
          <a:xfrm>
            <a:off x="828446" y="5044019"/>
            <a:ext cx="387475" cy="408049"/>
            <a:chOff x="-21210" y="-363889"/>
            <a:chExt cx="516633" cy="544064"/>
          </a:xfrm>
        </p:grpSpPr>
        <p:sp>
          <p:nvSpPr>
            <p:cNvPr id="129" name="Freeform 129">
              <a:extLst>
                <a:ext uri="{FF2B5EF4-FFF2-40B4-BE49-F238E27FC236}">
                  <a16:creationId xmlns:a16="http://schemas.microsoft.com/office/drawing/2014/main" id="{B62F910C-8746-B9E7-8110-276B3E72677F}"/>
                </a:ext>
              </a:extLst>
            </p:cNvPr>
            <p:cNvSpPr/>
            <p:nvPr/>
          </p:nvSpPr>
          <p:spPr>
            <a:xfrm>
              <a:off x="-21210" y="-163639"/>
              <a:ext cx="495603" cy="343814"/>
            </a:xfrm>
            <a:custGeom>
              <a:avLst/>
              <a:gdLst/>
              <a:ahLst/>
              <a:cxnLst/>
              <a:rect l="l" t="t" r="r" b="b"/>
              <a:pathLst>
                <a:path w="495604" h="343814">
                  <a:moveTo>
                    <a:pt x="0" y="0"/>
                  </a:moveTo>
                  <a:lnTo>
                    <a:pt x="495604" y="0"/>
                  </a:lnTo>
                  <a:lnTo>
                    <a:pt x="495604" y="343814"/>
                  </a:lnTo>
                  <a:lnTo>
                    <a:pt x="0" y="34381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007" r="-39007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130" name="TextBox 130">
              <a:extLst>
                <a:ext uri="{FF2B5EF4-FFF2-40B4-BE49-F238E27FC236}">
                  <a16:creationId xmlns:a16="http://schemas.microsoft.com/office/drawing/2014/main" id="{C47962D8-4ECE-2112-CC65-AB0583E71061}"/>
                </a:ext>
              </a:extLst>
            </p:cNvPr>
            <p:cNvSpPr txBox="1"/>
            <p:nvPr/>
          </p:nvSpPr>
          <p:spPr>
            <a:xfrm>
              <a:off x="-181" y="-363889"/>
              <a:ext cx="495604" cy="34381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1</a:t>
              </a:r>
            </a:p>
          </p:txBody>
        </p:sp>
      </p:grpSp>
      <p:grpSp>
        <p:nvGrpSpPr>
          <p:cNvPr id="137" name="Group 137">
            <a:extLst>
              <a:ext uri="{FF2B5EF4-FFF2-40B4-BE49-F238E27FC236}">
                <a16:creationId xmlns:a16="http://schemas.microsoft.com/office/drawing/2014/main" id="{B0F5C392-EF1B-B835-ED68-A45187044A9E}"/>
              </a:ext>
            </a:extLst>
          </p:cNvPr>
          <p:cNvGrpSpPr/>
          <p:nvPr/>
        </p:nvGrpSpPr>
        <p:grpSpPr>
          <a:xfrm>
            <a:off x="851906" y="6784788"/>
            <a:ext cx="276911" cy="276911"/>
            <a:chOff x="0" y="0"/>
            <a:chExt cx="369214" cy="369214"/>
          </a:xfrm>
        </p:grpSpPr>
        <p:sp>
          <p:nvSpPr>
            <p:cNvPr id="138" name="Freeform 138">
              <a:extLst>
                <a:ext uri="{FF2B5EF4-FFF2-40B4-BE49-F238E27FC236}">
                  <a16:creationId xmlns:a16="http://schemas.microsoft.com/office/drawing/2014/main" id="{B5A78E71-3E6A-5AB7-F3FC-542AF0E12A2C}"/>
                </a:ext>
              </a:extLst>
            </p:cNvPr>
            <p:cNvSpPr/>
            <p:nvPr/>
          </p:nvSpPr>
          <p:spPr>
            <a:xfrm>
              <a:off x="12700" y="12700"/>
              <a:ext cx="343789" cy="343789"/>
            </a:xfrm>
            <a:custGeom>
              <a:avLst/>
              <a:gdLst/>
              <a:ahLst/>
              <a:cxnLst/>
              <a:rect l="l" t="t" r="r" b="b"/>
              <a:pathLst>
                <a:path w="343789" h="343789">
                  <a:moveTo>
                    <a:pt x="0" y="171958"/>
                  </a:moveTo>
                  <a:cubicBezTo>
                    <a:pt x="0" y="76962"/>
                    <a:pt x="76962" y="0"/>
                    <a:pt x="171958" y="0"/>
                  </a:cubicBezTo>
                  <a:cubicBezTo>
                    <a:pt x="266954" y="0"/>
                    <a:pt x="343789" y="76962"/>
                    <a:pt x="343789" y="171958"/>
                  </a:cubicBezTo>
                  <a:cubicBezTo>
                    <a:pt x="343789" y="266954"/>
                    <a:pt x="266827" y="343789"/>
                    <a:pt x="171958" y="343789"/>
                  </a:cubicBezTo>
                  <a:cubicBezTo>
                    <a:pt x="77089" y="343789"/>
                    <a:pt x="0" y="266827"/>
                    <a:pt x="0" y="171958"/>
                  </a:cubicBezTo>
                  <a:close/>
                </a:path>
              </a:pathLst>
            </a:custGeom>
            <a:solidFill>
              <a:srgbClr val="FFFFFF">
                <a:alpha val="3922"/>
              </a:srgbClr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50" name="Group 150">
            <a:extLst>
              <a:ext uri="{FF2B5EF4-FFF2-40B4-BE49-F238E27FC236}">
                <a16:creationId xmlns:a16="http://schemas.microsoft.com/office/drawing/2014/main" id="{EFEA9D00-85FA-DB79-53CA-86A305BE4F6F}"/>
              </a:ext>
            </a:extLst>
          </p:cNvPr>
          <p:cNvGrpSpPr/>
          <p:nvPr/>
        </p:nvGrpSpPr>
        <p:grpSpPr>
          <a:xfrm>
            <a:off x="789128" y="6655032"/>
            <a:ext cx="446171" cy="271237"/>
            <a:chOff x="-185549" y="-1002392"/>
            <a:chExt cx="594893" cy="361649"/>
          </a:xfrm>
        </p:grpSpPr>
        <p:sp>
          <p:nvSpPr>
            <p:cNvPr id="151" name="Freeform 151">
              <a:extLst>
                <a:ext uri="{FF2B5EF4-FFF2-40B4-BE49-F238E27FC236}">
                  <a16:creationId xmlns:a16="http://schemas.microsoft.com/office/drawing/2014/main" id="{CD76CFC1-9147-013A-DFB6-77E7C4DD41B6}"/>
                </a:ext>
              </a:extLst>
            </p:cNvPr>
            <p:cNvSpPr/>
            <p:nvPr/>
          </p:nvSpPr>
          <p:spPr>
            <a:xfrm>
              <a:off x="-86260" y="-1002392"/>
              <a:ext cx="495604" cy="343814"/>
            </a:xfrm>
            <a:custGeom>
              <a:avLst/>
              <a:gdLst/>
              <a:ahLst/>
              <a:cxnLst/>
              <a:rect l="l" t="t" r="r" b="b"/>
              <a:pathLst>
                <a:path w="495604" h="343814">
                  <a:moveTo>
                    <a:pt x="0" y="0"/>
                  </a:moveTo>
                  <a:lnTo>
                    <a:pt x="495604" y="0"/>
                  </a:lnTo>
                  <a:lnTo>
                    <a:pt x="495604" y="343814"/>
                  </a:lnTo>
                  <a:lnTo>
                    <a:pt x="0" y="34381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007" r="-39007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152" name="TextBox 152">
              <a:extLst>
                <a:ext uri="{FF2B5EF4-FFF2-40B4-BE49-F238E27FC236}">
                  <a16:creationId xmlns:a16="http://schemas.microsoft.com/office/drawing/2014/main" id="{6BF44BCF-0DDC-0632-F82E-20FF764E5B43}"/>
                </a:ext>
              </a:extLst>
            </p:cNvPr>
            <p:cNvSpPr txBox="1"/>
            <p:nvPr/>
          </p:nvSpPr>
          <p:spPr>
            <a:xfrm>
              <a:off x="-185549" y="-984557"/>
              <a:ext cx="495605" cy="34381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3</a:t>
              </a:r>
            </a:p>
          </p:txBody>
        </p:sp>
      </p:grpSp>
      <p:grpSp>
        <p:nvGrpSpPr>
          <p:cNvPr id="186" name="Group 186">
            <a:extLst>
              <a:ext uri="{FF2B5EF4-FFF2-40B4-BE49-F238E27FC236}">
                <a16:creationId xmlns:a16="http://schemas.microsoft.com/office/drawing/2014/main" id="{4E215DDA-3A92-8322-D826-7EAD07C153CC}"/>
              </a:ext>
            </a:extLst>
          </p:cNvPr>
          <p:cNvGrpSpPr/>
          <p:nvPr/>
        </p:nvGrpSpPr>
        <p:grpSpPr>
          <a:xfrm>
            <a:off x="14270126" y="10009937"/>
            <a:ext cx="3939235" cy="257861"/>
            <a:chOff x="0" y="0"/>
            <a:chExt cx="5252314" cy="343814"/>
          </a:xfrm>
        </p:grpSpPr>
        <p:sp>
          <p:nvSpPr>
            <p:cNvPr id="187" name="Freeform 187">
              <a:extLst>
                <a:ext uri="{FF2B5EF4-FFF2-40B4-BE49-F238E27FC236}">
                  <a16:creationId xmlns:a16="http://schemas.microsoft.com/office/drawing/2014/main" id="{85E4BDA8-0409-F498-4BEB-1C5646CF7AD9}"/>
                </a:ext>
              </a:extLst>
            </p:cNvPr>
            <p:cNvSpPr/>
            <p:nvPr/>
          </p:nvSpPr>
          <p:spPr>
            <a:xfrm>
              <a:off x="0" y="0"/>
              <a:ext cx="5252314" cy="343814"/>
            </a:xfrm>
            <a:custGeom>
              <a:avLst/>
              <a:gdLst/>
              <a:ahLst/>
              <a:cxnLst/>
              <a:rect l="l" t="t" r="r" b="b"/>
              <a:pathLst>
                <a:path w="5252314" h="343814">
                  <a:moveTo>
                    <a:pt x="0" y="0"/>
                  </a:moveTo>
                  <a:lnTo>
                    <a:pt x="5252314" y="0"/>
                  </a:lnTo>
                  <a:lnTo>
                    <a:pt x="5252314" y="343814"/>
                  </a:lnTo>
                  <a:lnTo>
                    <a:pt x="0" y="34381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7665" b="-247665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188" name="TextBox 188">
              <a:extLst>
                <a:ext uri="{FF2B5EF4-FFF2-40B4-BE49-F238E27FC236}">
                  <a16:creationId xmlns:a16="http://schemas.microsoft.com/office/drawing/2014/main" id="{AA4CEADF-3D6B-D46C-6D12-FC96B11AE08E}"/>
                </a:ext>
              </a:extLst>
            </p:cNvPr>
            <p:cNvSpPr txBox="1"/>
            <p:nvPr/>
          </p:nvSpPr>
          <p:spPr>
            <a:xfrm>
              <a:off x="0" y="-9525"/>
              <a:ext cx="5252314" cy="3533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4748B"/>
                  </a:solidFill>
                  <a:latin typeface="Open Sans"/>
                  <a:ea typeface="Open Sans"/>
                  <a:cs typeface="Open Sans"/>
                  <a:sym typeface="Open Sans"/>
                </a:rPr>
                <a:t>Documento Interno - Grupo BEEA © 2026</a:t>
              </a:r>
            </a:p>
          </p:txBody>
        </p:sp>
      </p:grpSp>
      <p:grpSp>
        <p:nvGrpSpPr>
          <p:cNvPr id="191" name="Group 191">
            <a:extLst>
              <a:ext uri="{FF2B5EF4-FFF2-40B4-BE49-F238E27FC236}">
                <a16:creationId xmlns:a16="http://schemas.microsoft.com/office/drawing/2014/main" id="{926A6ECB-7E3E-2C28-8CD4-A8AC07A31026}"/>
              </a:ext>
            </a:extLst>
          </p:cNvPr>
          <p:cNvGrpSpPr/>
          <p:nvPr/>
        </p:nvGrpSpPr>
        <p:grpSpPr>
          <a:xfrm>
            <a:off x="15744596" y="3284982"/>
            <a:ext cx="1515618" cy="357988"/>
            <a:chOff x="0" y="0"/>
            <a:chExt cx="2020824" cy="477317"/>
          </a:xfrm>
        </p:grpSpPr>
        <p:sp>
          <p:nvSpPr>
            <p:cNvPr id="192" name="Freeform 192">
              <a:extLst>
                <a:ext uri="{FF2B5EF4-FFF2-40B4-BE49-F238E27FC236}">
                  <a16:creationId xmlns:a16="http://schemas.microsoft.com/office/drawing/2014/main" id="{74E4E1DD-C065-8797-B3DD-98973B912DF7}"/>
                </a:ext>
              </a:extLst>
            </p:cNvPr>
            <p:cNvSpPr/>
            <p:nvPr/>
          </p:nvSpPr>
          <p:spPr>
            <a:xfrm>
              <a:off x="0" y="0"/>
              <a:ext cx="2020824" cy="477316"/>
            </a:xfrm>
            <a:custGeom>
              <a:avLst/>
              <a:gdLst/>
              <a:ahLst/>
              <a:cxnLst/>
              <a:rect l="l" t="t" r="r" b="b"/>
              <a:pathLst>
                <a:path w="2020824" h="477316">
                  <a:moveTo>
                    <a:pt x="0" y="0"/>
                  </a:moveTo>
                  <a:lnTo>
                    <a:pt x="2020824" y="0"/>
                  </a:lnTo>
                  <a:lnTo>
                    <a:pt x="2020824" y="477316"/>
                  </a:lnTo>
                  <a:lnTo>
                    <a:pt x="0" y="4773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494" b="-32494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193" name="TextBox 193">
              <a:extLst>
                <a:ext uri="{FF2B5EF4-FFF2-40B4-BE49-F238E27FC236}">
                  <a16:creationId xmlns:a16="http://schemas.microsoft.com/office/drawing/2014/main" id="{43814895-F01B-A3C4-C0F6-0AD8880816F6}"/>
                </a:ext>
              </a:extLst>
            </p:cNvPr>
            <p:cNvSpPr txBox="1"/>
            <p:nvPr/>
          </p:nvSpPr>
          <p:spPr>
            <a:xfrm>
              <a:off x="0" y="0"/>
              <a:ext cx="2020824" cy="4773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439"/>
                </a:lnSpc>
              </a:pPr>
              <a:r>
                <a:rPr lang="en-US" sz="1200" b="1" dirty="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DESVIO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b="1" dirty="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ORÇAMENTO</a:t>
              </a:r>
            </a:p>
          </p:txBody>
        </p:sp>
      </p:grpSp>
      <p:grpSp>
        <p:nvGrpSpPr>
          <p:cNvPr id="194" name="Group 194">
            <a:extLst>
              <a:ext uri="{FF2B5EF4-FFF2-40B4-BE49-F238E27FC236}">
                <a16:creationId xmlns:a16="http://schemas.microsoft.com/office/drawing/2014/main" id="{3BE6289E-C5E8-7254-A4F9-45DABEE84A5E}"/>
              </a:ext>
            </a:extLst>
          </p:cNvPr>
          <p:cNvGrpSpPr/>
          <p:nvPr/>
        </p:nvGrpSpPr>
        <p:grpSpPr>
          <a:xfrm>
            <a:off x="0" y="0"/>
            <a:ext cx="18287543" cy="1014984"/>
            <a:chOff x="0" y="0"/>
            <a:chExt cx="24383390" cy="1353312"/>
          </a:xfrm>
        </p:grpSpPr>
        <p:sp>
          <p:nvSpPr>
            <p:cNvPr id="195" name="Freeform 195">
              <a:extLst>
                <a:ext uri="{FF2B5EF4-FFF2-40B4-BE49-F238E27FC236}">
                  <a16:creationId xmlns:a16="http://schemas.microsoft.com/office/drawing/2014/main" id="{423770ED-A768-FA4D-608B-6AECB2C3D441}"/>
                </a:ext>
              </a:extLst>
            </p:cNvPr>
            <p:cNvSpPr/>
            <p:nvPr/>
          </p:nvSpPr>
          <p:spPr>
            <a:xfrm>
              <a:off x="0" y="0"/>
              <a:ext cx="24383364" cy="1353312"/>
            </a:xfrm>
            <a:custGeom>
              <a:avLst/>
              <a:gdLst/>
              <a:ahLst/>
              <a:cxnLst/>
              <a:rect l="l" t="t" r="r" b="b"/>
              <a:pathLst>
                <a:path w="24383364" h="1353312">
                  <a:moveTo>
                    <a:pt x="0" y="0"/>
                  </a:moveTo>
                  <a:lnTo>
                    <a:pt x="24383364" y="0"/>
                  </a:lnTo>
                  <a:lnTo>
                    <a:pt x="24383364" y="1353312"/>
                  </a:lnTo>
                  <a:lnTo>
                    <a:pt x="0" y="13533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96" name="Group 196">
            <a:extLst>
              <a:ext uri="{FF2B5EF4-FFF2-40B4-BE49-F238E27FC236}">
                <a16:creationId xmlns:a16="http://schemas.microsoft.com/office/drawing/2014/main" id="{C9BB8355-EA29-D96C-E0BD-E1DBF5AB37BF}"/>
              </a:ext>
            </a:extLst>
          </p:cNvPr>
          <p:cNvGrpSpPr/>
          <p:nvPr/>
        </p:nvGrpSpPr>
        <p:grpSpPr>
          <a:xfrm>
            <a:off x="-9525" y="962939"/>
            <a:ext cx="18306593" cy="61570"/>
            <a:chOff x="0" y="0"/>
            <a:chExt cx="24408790" cy="82093"/>
          </a:xfrm>
        </p:grpSpPr>
        <p:sp>
          <p:nvSpPr>
            <p:cNvPr id="197" name="Freeform 197">
              <a:extLst>
                <a:ext uri="{FF2B5EF4-FFF2-40B4-BE49-F238E27FC236}">
                  <a16:creationId xmlns:a16="http://schemas.microsoft.com/office/drawing/2014/main" id="{7E20A9C4-DE87-8CB6-9658-E1F648923A4C}"/>
                </a:ext>
              </a:extLst>
            </p:cNvPr>
            <p:cNvSpPr/>
            <p:nvPr/>
          </p:nvSpPr>
          <p:spPr>
            <a:xfrm>
              <a:off x="12700" y="12700"/>
              <a:ext cx="24383364" cy="56642"/>
            </a:xfrm>
            <a:custGeom>
              <a:avLst/>
              <a:gdLst/>
              <a:ahLst/>
              <a:cxnLst/>
              <a:rect l="l" t="t" r="r" b="b"/>
              <a:pathLst>
                <a:path w="24383364" h="56642">
                  <a:moveTo>
                    <a:pt x="0" y="0"/>
                  </a:moveTo>
                  <a:lnTo>
                    <a:pt x="24383364" y="0"/>
                  </a:lnTo>
                  <a:lnTo>
                    <a:pt x="24383364" y="56642"/>
                  </a:lnTo>
                  <a:lnTo>
                    <a:pt x="0" y="56642"/>
                  </a:lnTo>
                  <a:close/>
                </a:path>
              </a:pathLst>
            </a:custGeom>
            <a:solidFill>
              <a:srgbClr val="002B49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01" name="Group 201">
            <a:extLst>
              <a:ext uri="{FF2B5EF4-FFF2-40B4-BE49-F238E27FC236}">
                <a16:creationId xmlns:a16="http://schemas.microsoft.com/office/drawing/2014/main" id="{23CC5868-360E-61B8-43B3-83B70C6A89D1}"/>
              </a:ext>
            </a:extLst>
          </p:cNvPr>
          <p:cNvGrpSpPr/>
          <p:nvPr/>
        </p:nvGrpSpPr>
        <p:grpSpPr>
          <a:xfrm>
            <a:off x="714604" y="672084"/>
            <a:ext cx="5844388" cy="300380"/>
            <a:chOff x="0" y="0"/>
            <a:chExt cx="7792517" cy="400507"/>
          </a:xfrm>
        </p:grpSpPr>
        <p:sp>
          <p:nvSpPr>
            <p:cNvPr id="202" name="Freeform 202">
              <a:extLst>
                <a:ext uri="{FF2B5EF4-FFF2-40B4-BE49-F238E27FC236}">
                  <a16:creationId xmlns:a16="http://schemas.microsoft.com/office/drawing/2014/main" id="{B1261349-261B-0D64-E165-E6EE54A9C6A7}"/>
                </a:ext>
              </a:extLst>
            </p:cNvPr>
            <p:cNvSpPr/>
            <p:nvPr/>
          </p:nvSpPr>
          <p:spPr>
            <a:xfrm>
              <a:off x="0" y="0"/>
              <a:ext cx="7792516" cy="400508"/>
            </a:xfrm>
            <a:custGeom>
              <a:avLst/>
              <a:gdLst/>
              <a:ahLst/>
              <a:cxnLst/>
              <a:rect l="l" t="t" r="r" b="b"/>
              <a:pathLst>
                <a:path w="7792516" h="400508">
                  <a:moveTo>
                    <a:pt x="0" y="0"/>
                  </a:moveTo>
                  <a:lnTo>
                    <a:pt x="7792516" y="0"/>
                  </a:lnTo>
                  <a:lnTo>
                    <a:pt x="7792516" y="400508"/>
                  </a:lnTo>
                  <a:lnTo>
                    <a:pt x="0" y="4005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9112" b="-329112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203" name="TextBox 203">
              <a:extLst>
                <a:ext uri="{FF2B5EF4-FFF2-40B4-BE49-F238E27FC236}">
                  <a16:creationId xmlns:a16="http://schemas.microsoft.com/office/drawing/2014/main" id="{12E0183C-BD98-81A9-6BCC-4DD68CAE8E2D}"/>
                </a:ext>
              </a:extLst>
            </p:cNvPr>
            <p:cNvSpPr txBox="1"/>
            <p:nvPr/>
          </p:nvSpPr>
          <p:spPr>
            <a:xfrm>
              <a:off x="0" y="-9525"/>
              <a:ext cx="7792517" cy="41003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 spc="112" dirty="0" err="1">
                  <a:solidFill>
                    <a:srgbClr val="EF444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Modelo</a:t>
              </a:r>
              <a:r>
                <a:rPr lang="en-US" sz="1500" b="1" spc="112" dirty="0">
                  <a:solidFill>
                    <a:srgbClr val="EF444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 de </a:t>
              </a:r>
              <a:r>
                <a:rPr lang="en-US" sz="1500" b="1" spc="112" dirty="0" err="1">
                  <a:solidFill>
                    <a:srgbClr val="EF444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Análise</a:t>
              </a:r>
              <a:r>
                <a:rPr lang="en-US" sz="1500" b="1" spc="112" dirty="0">
                  <a:solidFill>
                    <a:srgbClr val="EF444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 de Desvio (&gt; 5%)</a:t>
              </a:r>
            </a:p>
          </p:txBody>
        </p:sp>
      </p:grpSp>
      <p:sp>
        <p:nvSpPr>
          <p:cNvPr id="204" name="Freeform 204">
            <a:extLst>
              <a:ext uri="{FF2B5EF4-FFF2-40B4-BE49-F238E27FC236}">
                <a16:creationId xmlns:a16="http://schemas.microsoft.com/office/drawing/2014/main" id="{6BA2F2CD-0C48-B4D3-E130-1F4B790889C4}"/>
              </a:ext>
            </a:extLst>
          </p:cNvPr>
          <p:cNvSpPr/>
          <p:nvPr/>
        </p:nvSpPr>
        <p:spPr>
          <a:xfrm>
            <a:off x="14883232" y="366964"/>
            <a:ext cx="3083905" cy="513984"/>
          </a:xfrm>
          <a:custGeom>
            <a:avLst/>
            <a:gdLst/>
            <a:ahLst/>
            <a:cxnLst/>
            <a:rect l="l" t="t" r="r" b="b"/>
            <a:pathLst>
              <a:path w="3083905" h="513984">
                <a:moveTo>
                  <a:pt x="0" y="0"/>
                </a:moveTo>
                <a:lnTo>
                  <a:pt x="3083905" y="0"/>
                </a:lnTo>
                <a:lnTo>
                  <a:pt x="3083905" y="513984"/>
                </a:lnTo>
                <a:lnTo>
                  <a:pt x="0" y="5139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208" name="Group 150">
            <a:extLst>
              <a:ext uri="{FF2B5EF4-FFF2-40B4-BE49-F238E27FC236}">
                <a16:creationId xmlns:a16="http://schemas.microsoft.com/office/drawing/2014/main" id="{251B44B8-3AE5-848C-CF8C-C765674B3E6D}"/>
              </a:ext>
            </a:extLst>
          </p:cNvPr>
          <p:cNvGrpSpPr/>
          <p:nvPr/>
        </p:nvGrpSpPr>
        <p:grpSpPr>
          <a:xfrm>
            <a:off x="795228" y="7487431"/>
            <a:ext cx="392712" cy="436399"/>
            <a:chOff x="-148265" y="-1623201"/>
            <a:chExt cx="523614" cy="581866"/>
          </a:xfrm>
        </p:grpSpPr>
        <p:sp>
          <p:nvSpPr>
            <p:cNvPr id="209" name="Freeform 151">
              <a:extLst>
                <a:ext uri="{FF2B5EF4-FFF2-40B4-BE49-F238E27FC236}">
                  <a16:creationId xmlns:a16="http://schemas.microsoft.com/office/drawing/2014/main" id="{A8A3D583-BDFD-45C0-8051-C0299FF110E0}"/>
                </a:ext>
              </a:extLst>
            </p:cNvPr>
            <p:cNvSpPr/>
            <p:nvPr/>
          </p:nvSpPr>
          <p:spPr>
            <a:xfrm>
              <a:off x="-120255" y="-1385149"/>
              <a:ext cx="495604" cy="343814"/>
            </a:xfrm>
            <a:custGeom>
              <a:avLst/>
              <a:gdLst/>
              <a:ahLst/>
              <a:cxnLst/>
              <a:rect l="l" t="t" r="r" b="b"/>
              <a:pathLst>
                <a:path w="495604" h="343814">
                  <a:moveTo>
                    <a:pt x="0" y="0"/>
                  </a:moveTo>
                  <a:lnTo>
                    <a:pt x="495604" y="0"/>
                  </a:lnTo>
                  <a:lnTo>
                    <a:pt x="495604" y="343814"/>
                  </a:lnTo>
                  <a:lnTo>
                    <a:pt x="0" y="34381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007" r="-39007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210" name="TextBox 152">
              <a:extLst>
                <a:ext uri="{FF2B5EF4-FFF2-40B4-BE49-F238E27FC236}">
                  <a16:creationId xmlns:a16="http://schemas.microsoft.com/office/drawing/2014/main" id="{9ED7E32B-8180-DF58-94A8-66C481FCE4E7}"/>
                </a:ext>
              </a:extLst>
            </p:cNvPr>
            <p:cNvSpPr txBox="1"/>
            <p:nvPr/>
          </p:nvSpPr>
          <p:spPr>
            <a:xfrm>
              <a:off x="-148265" y="-1623201"/>
              <a:ext cx="495605" cy="34381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4</a:t>
              </a:r>
            </a:p>
          </p:txBody>
        </p:sp>
      </p:grpSp>
      <p:sp>
        <p:nvSpPr>
          <p:cNvPr id="215" name="Freeform 129">
            <a:extLst>
              <a:ext uri="{FF2B5EF4-FFF2-40B4-BE49-F238E27FC236}">
                <a16:creationId xmlns:a16="http://schemas.microsoft.com/office/drawing/2014/main" id="{1DBE87BA-ED31-982E-B818-FFACFBA3DA2C}"/>
              </a:ext>
            </a:extLst>
          </p:cNvPr>
          <p:cNvSpPr/>
          <p:nvPr/>
        </p:nvSpPr>
        <p:spPr>
          <a:xfrm>
            <a:off x="780822" y="8205854"/>
            <a:ext cx="371703" cy="257861"/>
          </a:xfrm>
          <a:custGeom>
            <a:avLst/>
            <a:gdLst/>
            <a:ahLst/>
            <a:cxnLst/>
            <a:rect l="l" t="t" r="r" b="b"/>
            <a:pathLst>
              <a:path w="495604" h="343814">
                <a:moveTo>
                  <a:pt x="0" y="0"/>
                </a:moveTo>
                <a:lnTo>
                  <a:pt x="495604" y="0"/>
                </a:lnTo>
                <a:lnTo>
                  <a:pt x="495604" y="343814"/>
                </a:lnTo>
                <a:lnTo>
                  <a:pt x="0" y="343814"/>
                </a:lnTo>
                <a:close/>
              </a:path>
            </a:pathLst>
          </a:custGeom>
          <a:blipFill>
            <a:blip r:embed="rId3">
              <a:alphaModFix amt="0"/>
            </a:blip>
            <a:stretch>
              <a:fillRect l="-39007" r="-39007"/>
            </a:stretch>
          </a:blipFill>
        </p:spPr>
        <p:txBody>
          <a:bodyPr/>
          <a:lstStyle/>
          <a:p>
            <a:r>
              <a:rPr lang="pt-BR" sz="1400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234" name="Freeform 75">
            <a:extLst>
              <a:ext uri="{FF2B5EF4-FFF2-40B4-BE49-F238E27FC236}">
                <a16:creationId xmlns:a16="http://schemas.microsoft.com/office/drawing/2014/main" id="{B0E527C9-7336-9485-075F-9AB008FE4C4C}"/>
              </a:ext>
            </a:extLst>
          </p:cNvPr>
          <p:cNvSpPr/>
          <p:nvPr/>
        </p:nvSpPr>
        <p:spPr>
          <a:xfrm>
            <a:off x="10094652" y="1972361"/>
            <a:ext cx="2020461" cy="429311"/>
          </a:xfrm>
          <a:custGeom>
            <a:avLst/>
            <a:gdLst/>
            <a:ahLst/>
            <a:cxnLst/>
            <a:rect l="l" t="t" r="r" b="b"/>
            <a:pathLst>
              <a:path w="2306116" h="572414">
                <a:moveTo>
                  <a:pt x="0" y="0"/>
                </a:moveTo>
                <a:lnTo>
                  <a:pt x="2306116" y="0"/>
                </a:lnTo>
                <a:lnTo>
                  <a:pt x="2306116" y="572414"/>
                </a:lnTo>
                <a:lnTo>
                  <a:pt x="0" y="572414"/>
                </a:lnTo>
                <a:close/>
              </a:path>
            </a:pathLst>
          </a:custGeom>
          <a:blipFill>
            <a:blip r:embed="rId3">
              <a:alphaModFix amt="0"/>
            </a:blip>
            <a:stretch>
              <a:fillRect t="-28500" b="-28500"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1AE87AB-AE8B-33F1-82E3-7BAB8E2D7C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3317" y="1183419"/>
            <a:ext cx="12365555" cy="5762141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19C763A6-AEEC-74A3-FC1C-95ACAFBDDF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33317" y="7354919"/>
            <a:ext cx="12833820" cy="2140838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80DAAA78-18DF-F74D-C70C-8FC2B8B31565}"/>
              </a:ext>
            </a:extLst>
          </p:cNvPr>
          <p:cNvSpPr/>
          <p:nvPr/>
        </p:nvSpPr>
        <p:spPr>
          <a:xfrm>
            <a:off x="11820448" y="7354919"/>
            <a:ext cx="1209752" cy="4293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13732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310945"/>
            <a:ext cx="4571524" cy="6172200"/>
            <a:chOff x="12700" y="12700"/>
            <a:chExt cx="6095365" cy="8229600"/>
          </a:xfrm>
        </p:grpSpPr>
        <p:sp>
          <p:nvSpPr>
            <p:cNvPr id="3" name="Freeform 3"/>
            <p:cNvSpPr/>
            <p:nvPr/>
          </p:nvSpPr>
          <p:spPr>
            <a:xfrm>
              <a:off x="12700" y="12700"/>
              <a:ext cx="6095365" cy="8229600"/>
            </a:xfrm>
            <a:custGeom>
              <a:avLst/>
              <a:gdLst/>
              <a:ahLst/>
              <a:cxnLst/>
              <a:rect l="l" t="t" r="r" b="b"/>
              <a:pathLst>
                <a:path w="6095365" h="8229600">
                  <a:moveTo>
                    <a:pt x="0" y="137287"/>
                  </a:moveTo>
                  <a:cubicBezTo>
                    <a:pt x="0" y="61468"/>
                    <a:pt x="61341" y="0"/>
                    <a:pt x="137160" y="0"/>
                  </a:cubicBezTo>
                  <a:lnTo>
                    <a:pt x="5958205" y="0"/>
                  </a:lnTo>
                  <a:cubicBezTo>
                    <a:pt x="6033897" y="0"/>
                    <a:pt x="6095365" y="61468"/>
                    <a:pt x="6095365" y="137287"/>
                  </a:cubicBezTo>
                  <a:lnTo>
                    <a:pt x="6095365" y="8092313"/>
                  </a:lnTo>
                  <a:cubicBezTo>
                    <a:pt x="6095365" y="8168132"/>
                    <a:pt x="6034024" y="8229600"/>
                    <a:pt x="5958205" y="8229600"/>
                  </a:cubicBezTo>
                  <a:lnTo>
                    <a:pt x="137160" y="8229600"/>
                  </a:lnTo>
                  <a:cubicBezTo>
                    <a:pt x="61341" y="8229600"/>
                    <a:pt x="0" y="8168132"/>
                    <a:pt x="0" y="8092313"/>
                  </a:cubicBezTo>
                  <a:close/>
                </a:path>
              </a:pathLst>
            </a:custGeom>
            <a:solidFill>
              <a:srgbClr val="F1F5F9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363440" y="2276372"/>
            <a:ext cx="3877361" cy="32766"/>
            <a:chOff x="0" y="0"/>
            <a:chExt cx="5169814" cy="43688"/>
          </a:xfrm>
        </p:grpSpPr>
        <p:sp>
          <p:nvSpPr>
            <p:cNvPr id="5" name="Freeform 5"/>
            <p:cNvSpPr/>
            <p:nvPr/>
          </p:nvSpPr>
          <p:spPr>
            <a:xfrm>
              <a:off x="12700" y="12700"/>
              <a:ext cx="5144389" cy="18288"/>
            </a:xfrm>
            <a:custGeom>
              <a:avLst/>
              <a:gdLst/>
              <a:ahLst/>
              <a:cxnLst/>
              <a:rect l="l" t="t" r="r" b="b"/>
              <a:pathLst>
                <a:path w="5144389" h="18288">
                  <a:moveTo>
                    <a:pt x="0" y="0"/>
                  </a:moveTo>
                  <a:lnTo>
                    <a:pt x="5144389" y="0"/>
                  </a:lnTo>
                  <a:lnTo>
                    <a:pt x="5144389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85800" y="1601695"/>
            <a:ext cx="3743097" cy="393935"/>
            <a:chOff x="0" y="-9525"/>
            <a:chExt cx="4990796" cy="52524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990796" cy="515722"/>
            </a:xfrm>
            <a:custGeom>
              <a:avLst/>
              <a:gdLst/>
              <a:ahLst/>
              <a:cxnLst/>
              <a:rect l="l" t="t" r="r" b="b"/>
              <a:pathLst>
                <a:path w="4990796" h="515722">
                  <a:moveTo>
                    <a:pt x="0" y="0"/>
                  </a:moveTo>
                  <a:lnTo>
                    <a:pt x="4990796" y="0"/>
                  </a:lnTo>
                  <a:lnTo>
                    <a:pt x="4990796" y="515722"/>
                  </a:lnTo>
                  <a:lnTo>
                    <a:pt x="0" y="51572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8562" b="-138562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4990795" cy="5252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 dirty="0">
                  <a:solidFill>
                    <a:srgbClr val="002B4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Status Plano de </a:t>
              </a:r>
              <a:r>
                <a:rPr lang="en-US" sz="1950" b="1" dirty="0" err="1">
                  <a:solidFill>
                    <a:srgbClr val="002B4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Ação</a:t>
              </a:r>
              <a:endParaRPr lang="en-US" sz="1950" b="1" dirty="0">
                <a:solidFill>
                  <a:srgbClr val="002B49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380543" y="1673304"/>
            <a:ext cx="229057" cy="257861"/>
            <a:chOff x="0" y="0"/>
            <a:chExt cx="305410" cy="343814"/>
          </a:xfrm>
        </p:grpSpPr>
        <p:sp>
          <p:nvSpPr>
            <p:cNvPr id="10" name="Freeform 10" descr="preencoded.png"/>
            <p:cNvSpPr/>
            <p:nvPr/>
          </p:nvSpPr>
          <p:spPr>
            <a:xfrm>
              <a:off x="0" y="0"/>
              <a:ext cx="305435" cy="343789"/>
            </a:xfrm>
            <a:custGeom>
              <a:avLst/>
              <a:gdLst/>
              <a:ahLst/>
              <a:cxnLst/>
              <a:rect l="l" t="t" r="r" b="b"/>
              <a:pathLst>
                <a:path w="305435" h="343789">
                  <a:moveTo>
                    <a:pt x="0" y="0"/>
                  </a:moveTo>
                  <a:lnTo>
                    <a:pt x="305435" y="0"/>
                  </a:lnTo>
                  <a:lnTo>
                    <a:pt x="305435" y="343789"/>
                  </a:lnTo>
                  <a:lnTo>
                    <a:pt x="0" y="3437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748" r="511" b="-7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28600" y="2247900"/>
            <a:ext cx="3877361" cy="1747266"/>
            <a:chOff x="0" y="0"/>
            <a:chExt cx="5169814" cy="2329688"/>
          </a:xfrm>
        </p:grpSpPr>
        <p:sp>
          <p:nvSpPr>
            <p:cNvPr id="12" name="Freeform 12"/>
            <p:cNvSpPr/>
            <p:nvPr/>
          </p:nvSpPr>
          <p:spPr>
            <a:xfrm>
              <a:off x="12700" y="12700"/>
              <a:ext cx="5144389" cy="2304288"/>
            </a:xfrm>
            <a:custGeom>
              <a:avLst/>
              <a:gdLst/>
              <a:ahLst/>
              <a:cxnLst/>
              <a:rect l="l" t="t" r="r" b="b"/>
              <a:pathLst>
                <a:path w="5144389" h="2304288">
                  <a:moveTo>
                    <a:pt x="0" y="241808"/>
                  </a:moveTo>
                  <a:cubicBezTo>
                    <a:pt x="0" y="108331"/>
                    <a:pt x="108966" y="0"/>
                    <a:pt x="243332" y="0"/>
                  </a:cubicBezTo>
                  <a:lnTo>
                    <a:pt x="4901057" y="0"/>
                  </a:lnTo>
                  <a:cubicBezTo>
                    <a:pt x="5035423" y="0"/>
                    <a:pt x="5144389" y="108331"/>
                    <a:pt x="5144389" y="241808"/>
                  </a:cubicBezTo>
                  <a:lnTo>
                    <a:pt x="5144389" y="2062480"/>
                  </a:lnTo>
                  <a:cubicBezTo>
                    <a:pt x="5144389" y="2196084"/>
                    <a:pt x="5035423" y="2304288"/>
                    <a:pt x="4901057" y="2304288"/>
                  </a:cubicBezTo>
                  <a:lnTo>
                    <a:pt x="243332" y="2304288"/>
                  </a:lnTo>
                  <a:cubicBezTo>
                    <a:pt x="108966" y="2304288"/>
                    <a:pt x="0" y="2195957"/>
                    <a:pt x="0" y="2062480"/>
                  </a:cubicBezTo>
                  <a:close/>
                </a:path>
              </a:pathLst>
            </a:custGeom>
            <a:solidFill>
              <a:srgbClr val="E0F2FE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0" y="0"/>
              <a:ext cx="5169789" cy="2329688"/>
            </a:xfrm>
            <a:custGeom>
              <a:avLst/>
              <a:gdLst/>
              <a:ahLst/>
              <a:cxnLst/>
              <a:rect l="l" t="t" r="r" b="b"/>
              <a:pathLst>
                <a:path w="5169789" h="2329688">
                  <a:moveTo>
                    <a:pt x="0" y="254508"/>
                  </a:moveTo>
                  <a:cubicBezTo>
                    <a:pt x="0" y="113919"/>
                    <a:pt x="114681" y="0"/>
                    <a:pt x="256032" y="0"/>
                  </a:cubicBezTo>
                  <a:lnTo>
                    <a:pt x="4913757" y="0"/>
                  </a:lnTo>
                  <a:lnTo>
                    <a:pt x="4913757" y="12700"/>
                  </a:lnTo>
                  <a:lnTo>
                    <a:pt x="4913757" y="0"/>
                  </a:lnTo>
                  <a:cubicBezTo>
                    <a:pt x="5055108" y="0"/>
                    <a:pt x="5169789" y="113919"/>
                    <a:pt x="5169789" y="254508"/>
                  </a:cubicBezTo>
                  <a:lnTo>
                    <a:pt x="5157089" y="254508"/>
                  </a:lnTo>
                  <a:lnTo>
                    <a:pt x="5169789" y="254508"/>
                  </a:lnTo>
                  <a:lnTo>
                    <a:pt x="5169789" y="2075180"/>
                  </a:lnTo>
                  <a:lnTo>
                    <a:pt x="5157089" y="2075180"/>
                  </a:lnTo>
                  <a:lnTo>
                    <a:pt x="5169789" y="2075180"/>
                  </a:lnTo>
                  <a:cubicBezTo>
                    <a:pt x="5169789" y="2215769"/>
                    <a:pt x="5055108" y="2329688"/>
                    <a:pt x="4913757" y="2329688"/>
                  </a:cubicBezTo>
                  <a:lnTo>
                    <a:pt x="4913757" y="2316988"/>
                  </a:lnTo>
                  <a:lnTo>
                    <a:pt x="4913757" y="2329688"/>
                  </a:lnTo>
                  <a:lnTo>
                    <a:pt x="256032" y="2329688"/>
                  </a:lnTo>
                  <a:lnTo>
                    <a:pt x="256032" y="2316988"/>
                  </a:lnTo>
                  <a:lnTo>
                    <a:pt x="256032" y="2329688"/>
                  </a:lnTo>
                  <a:cubicBezTo>
                    <a:pt x="114681" y="2329688"/>
                    <a:pt x="0" y="2215769"/>
                    <a:pt x="0" y="2075180"/>
                  </a:cubicBezTo>
                  <a:lnTo>
                    <a:pt x="0" y="254508"/>
                  </a:lnTo>
                  <a:lnTo>
                    <a:pt x="12700" y="254508"/>
                  </a:lnTo>
                  <a:lnTo>
                    <a:pt x="0" y="254508"/>
                  </a:lnTo>
                  <a:moveTo>
                    <a:pt x="25400" y="254508"/>
                  </a:moveTo>
                  <a:lnTo>
                    <a:pt x="25400" y="2075180"/>
                  </a:lnTo>
                  <a:lnTo>
                    <a:pt x="12700" y="2075180"/>
                  </a:lnTo>
                  <a:lnTo>
                    <a:pt x="25400" y="2075180"/>
                  </a:lnTo>
                  <a:cubicBezTo>
                    <a:pt x="25400" y="2201672"/>
                    <a:pt x="128524" y="2304288"/>
                    <a:pt x="256032" y="2304288"/>
                  </a:cubicBezTo>
                  <a:lnTo>
                    <a:pt x="4913757" y="2304288"/>
                  </a:lnTo>
                  <a:cubicBezTo>
                    <a:pt x="5041138" y="2304288"/>
                    <a:pt x="5144389" y="2201672"/>
                    <a:pt x="5144389" y="2075180"/>
                  </a:cubicBezTo>
                  <a:lnTo>
                    <a:pt x="5144389" y="254508"/>
                  </a:lnTo>
                  <a:cubicBezTo>
                    <a:pt x="5144389" y="128016"/>
                    <a:pt x="5041265" y="25400"/>
                    <a:pt x="4913757" y="25400"/>
                  </a:cubicBezTo>
                  <a:lnTo>
                    <a:pt x="256032" y="25400"/>
                  </a:lnTo>
                  <a:lnTo>
                    <a:pt x="256032" y="12700"/>
                  </a:lnTo>
                  <a:lnTo>
                    <a:pt x="256032" y="25400"/>
                  </a:lnTo>
                  <a:cubicBezTo>
                    <a:pt x="128524" y="25400"/>
                    <a:pt x="25400" y="128016"/>
                    <a:pt x="25400" y="254508"/>
                  </a:cubicBezTo>
                  <a:close/>
                </a:path>
              </a:pathLst>
            </a:custGeom>
            <a:solidFill>
              <a:srgbClr val="BAE6FD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398602" y="2485111"/>
            <a:ext cx="3537356" cy="300380"/>
            <a:chOff x="0" y="0"/>
            <a:chExt cx="4716475" cy="40050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716476" cy="400508"/>
            </a:xfrm>
            <a:custGeom>
              <a:avLst/>
              <a:gdLst/>
              <a:ahLst/>
              <a:cxnLst/>
              <a:rect l="l" t="t" r="r" b="b"/>
              <a:pathLst>
                <a:path w="4716476" h="400508">
                  <a:moveTo>
                    <a:pt x="0" y="0"/>
                  </a:moveTo>
                  <a:lnTo>
                    <a:pt x="4716476" y="0"/>
                  </a:lnTo>
                  <a:lnTo>
                    <a:pt x="4716476" y="400508"/>
                  </a:lnTo>
                  <a:lnTo>
                    <a:pt x="0" y="4005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9460" b="-179460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0"/>
              <a:ext cx="4716475" cy="40050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0"/>
                </a:lnSpc>
              </a:pPr>
              <a:r>
                <a:rPr lang="en-US" sz="1500" b="1" spc="112" dirty="0">
                  <a:solidFill>
                    <a:srgbClr val="0369A1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2026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331394" y="2856814"/>
            <a:ext cx="3673145" cy="571957"/>
            <a:chOff x="0" y="0"/>
            <a:chExt cx="4897526" cy="76261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897526" cy="762610"/>
            </a:xfrm>
            <a:custGeom>
              <a:avLst/>
              <a:gdLst/>
              <a:ahLst/>
              <a:cxnLst/>
              <a:rect l="l" t="t" r="r" b="b"/>
              <a:pathLst>
                <a:path w="4897526" h="762610">
                  <a:moveTo>
                    <a:pt x="0" y="0"/>
                  </a:moveTo>
                  <a:lnTo>
                    <a:pt x="4897526" y="0"/>
                  </a:lnTo>
                  <a:lnTo>
                    <a:pt x="4897526" y="762610"/>
                  </a:lnTo>
                  <a:lnTo>
                    <a:pt x="0" y="7626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5134" b="-75134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0"/>
              <a:ext cx="4897526" cy="7626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400"/>
                </a:lnSpc>
              </a:pPr>
              <a:r>
                <a:rPr lang="en-US" sz="4500" b="1" dirty="0">
                  <a:solidFill>
                    <a:srgbClr val="002B4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JAN-MAI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398602" y="3500095"/>
            <a:ext cx="3537356" cy="257861"/>
            <a:chOff x="0" y="0"/>
            <a:chExt cx="4716475" cy="34381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716476" cy="343814"/>
            </a:xfrm>
            <a:custGeom>
              <a:avLst/>
              <a:gdLst/>
              <a:ahLst/>
              <a:cxnLst/>
              <a:rect l="l" t="t" r="r" b="b"/>
              <a:pathLst>
                <a:path w="4716476" h="343814">
                  <a:moveTo>
                    <a:pt x="0" y="0"/>
                  </a:moveTo>
                  <a:lnTo>
                    <a:pt x="4716476" y="0"/>
                  </a:lnTo>
                  <a:lnTo>
                    <a:pt x="4716476" y="343814"/>
                  </a:lnTo>
                  <a:lnTo>
                    <a:pt x="0" y="34381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7297" b="-217297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9525"/>
              <a:ext cx="4716475" cy="3533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20"/>
                </a:lnSpc>
              </a:pPr>
              <a:r>
                <a:rPr lang="en-US" sz="1350" dirty="0" err="1">
                  <a:solidFill>
                    <a:srgbClr val="64748B"/>
                  </a:solidFill>
                  <a:latin typeface="Open Sans"/>
                  <a:ea typeface="Open Sans"/>
                  <a:cs typeface="Open Sans"/>
                  <a:sym typeface="Open Sans"/>
                </a:rPr>
                <a:t>Próxima</a:t>
              </a:r>
              <a:r>
                <a:rPr lang="en-US" sz="1350" dirty="0">
                  <a:solidFill>
                    <a:srgbClr val="64748B"/>
                  </a:solidFill>
                  <a:latin typeface="Open Sans"/>
                  <a:ea typeface="Open Sans"/>
                  <a:cs typeface="Open Sans"/>
                  <a:sym typeface="Open Sans"/>
                </a:rPr>
                <a:t> Reunião de </a:t>
              </a:r>
              <a:r>
                <a:rPr lang="en-US" sz="1350" dirty="0" err="1">
                  <a:solidFill>
                    <a:srgbClr val="64748B"/>
                  </a:solidFill>
                  <a:latin typeface="Open Sans"/>
                  <a:ea typeface="Open Sans"/>
                  <a:cs typeface="Open Sans"/>
                  <a:sym typeface="Open Sans"/>
                </a:rPr>
                <a:t>Acompanhamento</a:t>
              </a:r>
              <a:endParaRPr lang="en-US" sz="1350" dirty="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63567" y="4805602"/>
            <a:ext cx="47854" cy="818693"/>
            <a:chOff x="0" y="0"/>
            <a:chExt cx="63805" cy="1091590"/>
          </a:xfrm>
        </p:grpSpPr>
        <p:sp>
          <p:nvSpPr>
            <p:cNvPr id="24" name="Freeform 24"/>
            <p:cNvSpPr/>
            <p:nvPr/>
          </p:nvSpPr>
          <p:spPr>
            <a:xfrm>
              <a:off x="12700" y="12700"/>
              <a:ext cx="38354" cy="1066165"/>
            </a:xfrm>
            <a:custGeom>
              <a:avLst/>
              <a:gdLst/>
              <a:ahLst/>
              <a:cxnLst/>
              <a:rect l="l" t="t" r="r" b="b"/>
              <a:pathLst>
                <a:path w="38354" h="1066165">
                  <a:moveTo>
                    <a:pt x="0" y="0"/>
                  </a:moveTo>
                  <a:lnTo>
                    <a:pt x="38354" y="0"/>
                  </a:lnTo>
                  <a:lnTo>
                    <a:pt x="38354" y="1066165"/>
                  </a:lnTo>
                  <a:lnTo>
                    <a:pt x="0" y="1066165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14400" y="4246855"/>
            <a:ext cx="2551176" cy="300380"/>
            <a:chOff x="0" y="0"/>
            <a:chExt cx="3401568" cy="400507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3401568" cy="400508"/>
            </a:xfrm>
            <a:custGeom>
              <a:avLst/>
              <a:gdLst/>
              <a:ahLst/>
              <a:cxnLst/>
              <a:rect l="l" t="t" r="r" b="b"/>
              <a:pathLst>
                <a:path w="3401568" h="400508">
                  <a:moveTo>
                    <a:pt x="0" y="0"/>
                  </a:moveTo>
                  <a:lnTo>
                    <a:pt x="3401568" y="0"/>
                  </a:lnTo>
                  <a:lnTo>
                    <a:pt x="3401568" y="400508"/>
                  </a:lnTo>
                  <a:lnTo>
                    <a:pt x="0" y="4005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5489" b="-115488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0"/>
              <a:ext cx="3401568" cy="40050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 dirty="0" err="1">
                  <a:solidFill>
                    <a:srgbClr val="334155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Envio</a:t>
              </a:r>
              <a:r>
                <a:rPr lang="en-US" sz="1500" b="1" dirty="0">
                  <a:solidFill>
                    <a:srgbClr val="334155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 dos Dados (D-5)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14400" y="4574667"/>
            <a:ext cx="2257654" cy="257861"/>
            <a:chOff x="0" y="0"/>
            <a:chExt cx="3010205" cy="343814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3010204" cy="343814"/>
            </a:xfrm>
            <a:custGeom>
              <a:avLst/>
              <a:gdLst/>
              <a:ahLst/>
              <a:cxnLst/>
              <a:rect l="l" t="t" r="r" b="b"/>
              <a:pathLst>
                <a:path w="3010204" h="343814">
                  <a:moveTo>
                    <a:pt x="0" y="0"/>
                  </a:moveTo>
                  <a:lnTo>
                    <a:pt x="3010204" y="0"/>
                  </a:lnTo>
                  <a:lnTo>
                    <a:pt x="3010204" y="343814"/>
                  </a:lnTo>
                  <a:lnTo>
                    <a:pt x="0" y="34381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597" b="-120597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9525"/>
              <a:ext cx="3010205" cy="3533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 dirty="0" err="1">
                  <a:solidFill>
                    <a:srgbClr val="64748B"/>
                  </a:solidFill>
                  <a:latin typeface="Open Sans"/>
                  <a:ea typeface="Open Sans"/>
                  <a:cs typeface="Open Sans"/>
                  <a:sym typeface="Open Sans"/>
                </a:rPr>
                <a:t>Até</a:t>
              </a:r>
              <a:r>
                <a:rPr lang="en-US" sz="1350" dirty="0">
                  <a:solidFill>
                    <a:srgbClr val="64748B"/>
                  </a:solidFill>
                  <a:latin typeface="Open Sans"/>
                  <a:ea typeface="Open Sans"/>
                  <a:cs typeface="Open Sans"/>
                  <a:sym typeface="Open Sans"/>
                </a:rPr>
                <a:t> 15/06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63567" y="5605245"/>
            <a:ext cx="47854" cy="818693"/>
            <a:chOff x="0" y="0"/>
            <a:chExt cx="63805" cy="1091590"/>
          </a:xfrm>
        </p:grpSpPr>
        <p:sp>
          <p:nvSpPr>
            <p:cNvPr id="32" name="Freeform 32"/>
            <p:cNvSpPr/>
            <p:nvPr/>
          </p:nvSpPr>
          <p:spPr>
            <a:xfrm>
              <a:off x="12700" y="12700"/>
              <a:ext cx="38354" cy="1066165"/>
            </a:xfrm>
            <a:custGeom>
              <a:avLst/>
              <a:gdLst/>
              <a:ahLst/>
              <a:cxnLst/>
              <a:rect l="l" t="t" r="r" b="b"/>
              <a:pathLst>
                <a:path w="38354" h="1066165">
                  <a:moveTo>
                    <a:pt x="0" y="0"/>
                  </a:moveTo>
                  <a:lnTo>
                    <a:pt x="38354" y="0"/>
                  </a:lnTo>
                  <a:lnTo>
                    <a:pt x="38354" y="1066165"/>
                  </a:lnTo>
                  <a:lnTo>
                    <a:pt x="0" y="1066165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914400" y="5046498"/>
            <a:ext cx="3284982" cy="300380"/>
            <a:chOff x="0" y="0"/>
            <a:chExt cx="4379976" cy="400507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4379976" cy="400508"/>
            </a:xfrm>
            <a:custGeom>
              <a:avLst/>
              <a:gdLst/>
              <a:ahLst/>
              <a:cxnLst/>
              <a:rect l="l" t="t" r="r" b="b"/>
              <a:pathLst>
                <a:path w="4379976" h="400508">
                  <a:moveTo>
                    <a:pt x="0" y="0"/>
                  </a:moveTo>
                  <a:lnTo>
                    <a:pt x="4379976" y="0"/>
                  </a:lnTo>
                  <a:lnTo>
                    <a:pt x="4379976" y="400508"/>
                  </a:lnTo>
                  <a:lnTo>
                    <a:pt x="0" y="4005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3089" b="-163089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0"/>
              <a:ext cx="4379976" cy="40050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 dirty="0" err="1">
                  <a:solidFill>
                    <a:srgbClr val="334155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Pré-Análise</a:t>
              </a:r>
              <a:r>
                <a:rPr lang="en-US" sz="1500" b="1" dirty="0">
                  <a:solidFill>
                    <a:srgbClr val="334155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 PMO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14400" y="5375682"/>
            <a:ext cx="3758184" cy="257861"/>
            <a:chOff x="0" y="0"/>
            <a:chExt cx="5010912" cy="343814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5010912" cy="343814"/>
            </a:xfrm>
            <a:custGeom>
              <a:avLst/>
              <a:gdLst/>
              <a:ahLst/>
              <a:cxnLst/>
              <a:rect l="l" t="t" r="r" b="b"/>
              <a:pathLst>
                <a:path w="5010912" h="343814">
                  <a:moveTo>
                    <a:pt x="0" y="0"/>
                  </a:moveTo>
                  <a:lnTo>
                    <a:pt x="5010912" y="0"/>
                  </a:lnTo>
                  <a:lnTo>
                    <a:pt x="5010912" y="343814"/>
                  </a:lnTo>
                  <a:lnTo>
                    <a:pt x="0" y="34381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3984" b="-233984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9525"/>
              <a:ext cx="5010912" cy="3533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 dirty="0">
                  <a:solidFill>
                    <a:srgbClr val="64748B"/>
                  </a:solidFill>
                  <a:latin typeface="Open Sans"/>
                  <a:ea typeface="Open Sans"/>
                  <a:cs typeface="Open Sans"/>
                  <a:sym typeface="Open Sans"/>
                </a:rPr>
                <a:t>05/06 a 10/06 - </a:t>
              </a:r>
              <a:r>
                <a:rPr lang="en-US" sz="1350" dirty="0" err="1">
                  <a:solidFill>
                    <a:srgbClr val="64748B"/>
                  </a:solidFill>
                  <a:latin typeface="Open Sans"/>
                  <a:ea typeface="Open Sans"/>
                  <a:cs typeface="Open Sans"/>
                  <a:sym typeface="Open Sans"/>
                </a:rPr>
                <a:t>Validação</a:t>
              </a:r>
              <a:r>
                <a:rPr lang="en-US" sz="1350" dirty="0">
                  <a:solidFill>
                    <a:srgbClr val="64748B"/>
                  </a:solidFill>
                  <a:latin typeface="Open Sans"/>
                  <a:ea typeface="Open Sans"/>
                  <a:cs typeface="Open Sans"/>
                  <a:sym typeface="Open Sans"/>
                </a:rPr>
                <a:t> dos </a:t>
              </a:r>
              <a:r>
                <a:rPr lang="en-US" sz="1350" dirty="0" err="1">
                  <a:solidFill>
                    <a:srgbClr val="64748B"/>
                  </a:solidFill>
                  <a:latin typeface="Open Sans"/>
                  <a:ea typeface="Open Sans"/>
                  <a:cs typeface="Open Sans"/>
                  <a:sym typeface="Open Sans"/>
                </a:rPr>
                <a:t>Ishikawas</a:t>
              </a:r>
              <a:endParaRPr lang="en-US" sz="1350" dirty="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463567" y="6404888"/>
            <a:ext cx="47854" cy="61570"/>
            <a:chOff x="0" y="0"/>
            <a:chExt cx="63805" cy="82093"/>
          </a:xfrm>
        </p:grpSpPr>
        <p:sp>
          <p:nvSpPr>
            <p:cNvPr id="40" name="Freeform 40"/>
            <p:cNvSpPr/>
            <p:nvPr/>
          </p:nvSpPr>
          <p:spPr>
            <a:xfrm>
              <a:off x="12700" y="12700"/>
              <a:ext cx="38354" cy="56642"/>
            </a:xfrm>
            <a:custGeom>
              <a:avLst/>
              <a:gdLst/>
              <a:ahLst/>
              <a:cxnLst/>
              <a:rect l="l" t="t" r="r" b="b"/>
              <a:pathLst>
                <a:path w="38354" h="56642">
                  <a:moveTo>
                    <a:pt x="0" y="0"/>
                  </a:moveTo>
                  <a:lnTo>
                    <a:pt x="38354" y="0"/>
                  </a:lnTo>
                  <a:lnTo>
                    <a:pt x="38354" y="56642"/>
                  </a:lnTo>
                  <a:lnTo>
                    <a:pt x="0" y="56642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14400" y="5846140"/>
            <a:ext cx="2721254" cy="300380"/>
            <a:chOff x="0" y="0"/>
            <a:chExt cx="3628339" cy="400507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3628340" cy="400508"/>
            </a:xfrm>
            <a:custGeom>
              <a:avLst/>
              <a:gdLst/>
              <a:ahLst/>
              <a:cxnLst/>
              <a:rect l="l" t="t" r="r" b="b"/>
              <a:pathLst>
                <a:path w="3628340" h="400508">
                  <a:moveTo>
                    <a:pt x="0" y="0"/>
                  </a:moveTo>
                  <a:lnTo>
                    <a:pt x="3628340" y="0"/>
                  </a:lnTo>
                  <a:lnTo>
                    <a:pt x="3628340" y="400508"/>
                  </a:lnTo>
                  <a:lnTo>
                    <a:pt x="0" y="4005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6521" b="-126521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0"/>
              <a:ext cx="3628339" cy="40050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 dirty="0" err="1">
                  <a:solidFill>
                    <a:srgbClr val="334155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Envio</a:t>
              </a:r>
              <a:r>
                <a:rPr lang="en-US" sz="1500" b="1" dirty="0">
                  <a:solidFill>
                    <a:srgbClr val="334155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 do Material Final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14400" y="6175324"/>
            <a:ext cx="2663647" cy="257861"/>
            <a:chOff x="0" y="0"/>
            <a:chExt cx="3551530" cy="343814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3551530" cy="343814"/>
            </a:xfrm>
            <a:custGeom>
              <a:avLst/>
              <a:gdLst/>
              <a:ahLst/>
              <a:cxnLst/>
              <a:rect l="l" t="t" r="r" b="b"/>
              <a:pathLst>
                <a:path w="3551530" h="343814">
                  <a:moveTo>
                    <a:pt x="0" y="0"/>
                  </a:moveTo>
                  <a:lnTo>
                    <a:pt x="3551530" y="0"/>
                  </a:lnTo>
                  <a:lnTo>
                    <a:pt x="3551530" y="343814"/>
                  </a:lnTo>
                  <a:lnTo>
                    <a:pt x="0" y="34381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1276" b="-151276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9525"/>
              <a:ext cx="3551530" cy="3533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 dirty="0">
                  <a:solidFill>
                    <a:srgbClr val="64748B"/>
                  </a:solidFill>
                  <a:latin typeface="Open Sans"/>
                  <a:ea typeface="Open Sans"/>
                  <a:cs typeface="Open Sans"/>
                  <a:sym typeface="Open Sans"/>
                </a:rPr>
                <a:t>15/06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5203850" y="2229765"/>
            <a:ext cx="6305093" cy="32766"/>
            <a:chOff x="0" y="0"/>
            <a:chExt cx="8406790" cy="43688"/>
          </a:xfrm>
        </p:grpSpPr>
        <p:sp>
          <p:nvSpPr>
            <p:cNvPr id="50" name="Freeform 50"/>
            <p:cNvSpPr/>
            <p:nvPr/>
          </p:nvSpPr>
          <p:spPr>
            <a:xfrm>
              <a:off x="12700" y="12700"/>
              <a:ext cx="8381365" cy="18288"/>
            </a:xfrm>
            <a:custGeom>
              <a:avLst/>
              <a:gdLst/>
              <a:ahLst/>
              <a:cxnLst/>
              <a:rect l="l" t="t" r="r" b="b"/>
              <a:pathLst>
                <a:path w="8381365" h="18288">
                  <a:moveTo>
                    <a:pt x="0" y="0"/>
                  </a:moveTo>
                  <a:lnTo>
                    <a:pt x="8381365" y="0"/>
                  </a:lnTo>
                  <a:lnTo>
                    <a:pt x="8381365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5471236" y="1638529"/>
            <a:ext cx="6143396" cy="386791"/>
            <a:chOff x="0" y="0"/>
            <a:chExt cx="8191195" cy="515722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8191196" cy="515722"/>
            </a:xfrm>
            <a:custGeom>
              <a:avLst/>
              <a:gdLst/>
              <a:ahLst/>
              <a:cxnLst/>
              <a:rect l="l" t="t" r="r" b="b"/>
              <a:pathLst>
                <a:path w="8191196" h="515722">
                  <a:moveTo>
                    <a:pt x="0" y="0"/>
                  </a:moveTo>
                  <a:lnTo>
                    <a:pt x="8191196" y="0"/>
                  </a:lnTo>
                  <a:lnTo>
                    <a:pt x="8191196" y="515722"/>
                  </a:lnTo>
                  <a:lnTo>
                    <a:pt x="0" y="51572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9480" b="-259480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0" y="-9525"/>
              <a:ext cx="8191195" cy="5252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 dirty="0">
                  <a:solidFill>
                    <a:srgbClr val="002B4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 </a:t>
              </a:r>
              <a:r>
                <a:rPr lang="en-US" sz="1950" b="1" dirty="0" err="1">
                  <a:solidFill>
                    <a:srgbClr val="002B4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Ações</a:t>
              </a:r>
              <a:r>
                <a:rPr lang="en-US" sz="1950" b="1" dirty="0">
                  <a:solidFill>
                    <a:srgbClr val="002B4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 </a:t>
              </a:r>
              <a:r>
                <a:rPr lang="en-US" sz="1950" b="1" dirty="0" err="1">
                  <a:solidFill>
                    <a:srgbClr val="002B4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Pendentes</a:t>
              </a:r>
              <a:r>
                <a:rPr lang="en-US" sz="1950" b="1" dirty="0">
                  <a:solidFill>
                    <a:srgbClr val="002B4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 </a:t>
              </a:r>
              <a:r>
                <a:rPr lang="en-US" sz="1950" b="1" dirty="0" err="1">
                  <a:solidFill>
                    <a:srgbClr val="002B4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por</a:t>
              </a:r>
              <a:r>
                <a:rPr lang="en-US" sz="1950" b="1" dirty="0">
                  <a:solidFill>
                    <a:srgbClr val="002B4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 </a:t>
              </a:r>
              <a:r>
                <a:rPr lang="en-US" sz="1950" b="1" dirty="0" err="1">
                  <a:solidFill>
                    <a:srgbClr val="002B4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Área</a:t>
              </a:r>
              <a:r>
                <a:rPr lang="en-US" sz="1950" b="1" dirty="0">
                  <a:solidFill>
                    <a:srgbClr val="002B4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 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5213375" y="1702994"/>
            <a:ext cx="257861" cy="257861"/>
            <a:chOff x="0" y="0"/>
            <a:chExt cx="343814" cy="343814"/>
          </a:xfrm>
        </p:grpSpPr>
        <p:sp>
          <p:nvSpPr>
            <p:cNvPr id="55" name="Freeform 55" descr="preencoded.png"/>
            <p:cNvSpPr/>
            <p:nvPr/>
          </p:nvSpPr>
          <p:spPr>
            <a:xfrm>
              <a:off x="0" y="0"/>
              <a:ext cx="343789" cy="343789"/>
            </a:xfrm>
            <a:custGeom>
              <a:avLst/>
              <a:gdLst/>
              <a:ahLst/>
              <a:cxnLst/>
              <a:rect l="l" t="t" r="r" b="b"/>
              <a:pathLst>
                <a:path w="343789" h="343789">
                  <a:moveTo>
                    <a:pt x="0" y="0"/>
                  </a:moveTo>
                  <a:lnTo>
                    <a:pt x="343789" y="0"/>
                  </a:lnTo>
                  <a:lnTo>
                    <a:pt x="343789" y="343789"/>
                  </a:lnTo>
                  <a:lnTo>
                    <a:pt x="0" y="3437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7" b="-7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5213375" y="2539670"/>
            <a:ext cx="6286043" cy="928573"/>
            <a:chOff x="0" y="0"/>
            <a:chExt cx="8381390" cy="1238098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8381492" cy="1238250"/>
            </a:xfrm>
            <a:custGeom>
              <a:avLst/>
              <a:gdLst/>
              <a:ahLst/>
              <a:cxnLst/>
              <a:rect l="l" t="t" r="r" b="b"/>
              <a:pathLst>
                <a:path w="8381492" h="1238250">
                  <a:moveTo>
                    <a:pt x="0" y="450215"/>
                  </a:moveTo>
                  <a:cubicBezTo>
                    <a:pt x="0" y="201549"/>
                    <a:pt x="201549" y="0"/>
                    <a:pt x="450215" y="0"/>
                  </a:cubicBezTo>
                  <a:lnTo>
                    <a:pt x="7931277" y="0"/>
                  </a:lnTo>
                  <a:cubicBezTo>
                    <a:pt x="8179943" y="0"/>
                    <a:pt x="8381492" y="201549"/>
                    <a:pt x="8381492" y="450215"/>
                  </a:cubicBezTo>
                  <a:lnTo>
                    <a:pt x="8381492" y="788035"/>
                  </a:lnTo>
                  <a:cubicBezTo>
                    <a:pt x="8381492" y="1036701"/>
                    <a:pt x="8179943" y="1238250"/>
                    <a:pt x="7931277" y="1238250"/>
                  </a:cubicBezTo>
                  <a:lnTo>
                    <a:pt x="450215" y="1238250"/>
                  </a:lnTo>
                  <a:cubicBezTo>
                    <a:pt x="201549" y="1238123"/>
                    <a:pt x="0" y="1036574"/>
                    <a:pt x="0" y="787908"/>
                  </a:cubicBezTo>
                  <a:close/>
                </a:path>
              </a:pathLst>
            </a:custGeom>
            <a:solidFill>
              <a:srgbClr val="FEF2F2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5203850" y="2530145"/>
            <a:ext cx="76657" cy="947623"/>
            <a:chOff x="0" y="0"/>
            <a:chExt cx="102210" cy="1263498"/>
          </a:xfrm>
        </p:grpSpPr>
        <p:sp>
          <p:nvSpPr>
            <p:cNvPr id="59" name="Freeform 59"/>
            <p:cNvSpPr/>
            <p:nvPr/>
          </p:nvSpPr>
          <p:spPr>
            <a:xfrm>
              <a:off x="12700" y="12700"/>
              <a:ext cx="76835" cy="1237996"/>
            </a:xfrm>
            <a:custGeom>
              <a:avLst/>
              <a:gdLst/>
              <a:ahLst/>
              <a:cxnLst/>
              <a:rect l="l" t="t" r="r" b="b"/>
              <a:pathLst>
                <a:path w="76835" h="1237996">
                  <a:moveTo>
                    <a:pt x="0" y="50038"/>
                  </a:moveTo>
                  <a:cubicBezTo>
                    <a:pt x="0" y="22479"/>
                    <a:pt x="17145" y="0"/>
                    <a:pt x="38354" y="0"/>
                  </a:cubicBezTo>
                  <a:cubicBezTo>
                    <a:pt x="59563" y="0"/>
                    <a:pt x="76835" y="22479"/>
                    <a:pt x="76835" y="50038"/>
                  </a:cubicBezTo>
                  <a:lnTo>
                    <a:pt x="76835" y="1187958"/>
                  </a:lnTo>
                  <a:cubicBezTo>
                    <a:pt x="76835" y="1215644"/>
                    <a:pt x="59690" y="1237996"/>
                    <a:pt x="38481" y="1237996"/>
                  </a:cubicBezTo>
                  <a:cubicBezTo>
                    <a:pt x="17272" y="1237996"/>
                    <a:pt x="0" y="1215644"/>
                    <a:pt x="0" y="1187958"/>
                  </a:cubicBezTo>
                  <a:close/>
                </a:path>
              </a:pathLst>
            </a:custGeom>
            <a:solidFill>
              <a:srgbClr val="EF4444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5484952" y="2885313"/>
            <a:ext cx="229057" cy="229057"/>
            <a:chOff x="0" y="0"/>
            <a:chExt cx="305410" cy="305410"/>
          </a:xfrm>
        </p:grpSpPr>
        <p:sp>
          <p:nvSpPr>
            <p:cNvPr id="61" name="Freeform 61" descr="preencoded.png"/>
            <p:cNvSpPr/>
            <p:nvPr/>
          </p:nvSpPr>
          <p:spPr>
            <a:xfrm>
              <a:off x="0" y="0"/>
              <a:ext cx="305435" cy="305435"/>
            </a:xfrm>
            <a:custGeom>
              <a:avLst/>
              <a:gdLst/>
              <a:ahLst/>
              <a:cxnLst/>
              <a:rect l="l" t="t" r="r" b="b"/>
              <a:pathLst>
                <a:path w="305435" h="305435">
                  <a:moveTo>
                    <a:pt x="0" y="0"/>
                  </a:moveTo>
                  <a:lnTo>
                    <a:pt x="305435" y="0"/>
                  </a:lnTo>
                  <a:lnTo>
                    <a:pt x="305435" y="305435"/>
                  </a:lnTo>
                  <a:lnTo>
                    <a:pt x="0" y="3054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8" b="8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5927979" y="2525268"/>
            <a:ext cx="3264408" cy="499949"/>
            <a:chOff x="0" y="-304495"/>
            <a:chExt cx="4352544" cy="666597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4352544" cy="362102"/>
            </a:xfrm>
            <a:custGeom>
              <a:avLst/>
              <a:gdLst/>
              <a:ahLst/>
              <a:cxnLst/>
              <a:rect l="l" t="t" r="r" b="b"/>
              <a:pathLst>
                <a:path w="4352544" h="362102">
                  <a:moveTo>
                    <a:pt x="0" y="0"/>
                  </a:moveTo>
                  <a:lnTo>
                    <a:pt x="4352544" y="0"/>
                  </a:lnTo>
                  <a:lnTo>
                    <a:pt x="4352544" y="362102"/>
                  </a:lnTo>
                  <a:lnTo>
                    <a:pt x="0" y="3621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4214" b="-184214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0" y="-304495"/>
              <a:ext cx="4352544" cy="36210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 dirty="0" err="1">
                  <a:solidFill>
                    <a:srgbClr val="334155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Elaborar</a:t>
              </a:r>
              <a:r>
                <a:rPr lang="en-US" sz="1500" b="1" dirty="0">
                  <a:solidFill>
                    <a:srgbClr val="334155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 </a:t>
              </a:r>
              <a:r>
                <a:rPr lang="en-US" sz="1500" b="1" dirty="0" err="1">
                  <a:solidFill>
                    <a:srgbClr val="334155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Planos</a:t>
              </a:r>
              <a:r>
                <a:rPr lang="en-US" sz="1500" b="1" dirty="0">
                  <a:solidFill>
                    <a:srgbClr val="334155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 de </a:t>
              </a:r>
              <a:r>
                <a:rPr lang="en-US" sz="1500" b="1" dirty="0" err="1">
                  <a:solidFill>
                    <a:srgbClr val="334155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Correção</a:t>
              </a:r>
              <a:endParaRPr lang="en-US" sz="1500" b="1" dirty="0">
                <a:solidFill>
                  <a:srgbClr val="334155"/>
                </a:solidFill>
                <a:latin typeface="Open Sans Bold"/>
                <a:ea typeface="Open Sans Bold"/>
                <a:cs typeface="Open Sans Bold"/>
                <a:sym typeface="Open Sans Bold"/>
              </a:endParaRP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5927979" y="3054020"/>
            <a:ext cx="3979012" cy="244145"/>
            <a:chOff x="0" y="0"/>
            <a:chExt cx="5305349" cy="325526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5305348" cy="325526"/>
            </a:xfrm>
            <a:custGeom>
              <a:avLst/>
              <a:gdLst/>
              <a:ahLst/>
              <a:cxnLst/>
              <a:rect l="l" t="t" r="r" b="b"/>
              <a:pathLst>
                <a:path w="5305348" h="325526">
                  <a:moveTo>
                    <a:pt x="0" y="0"/>
                  </a:moveTo>
                  <a:lnTo>
                    <a:pt x="5305348" y="0"/>
                  </a:lnTo>
                  <a:lnTo>
                    <a:pt x="5305348" y="325526"/>
                  </a:lnTo>
                  <a:lnTo>
                    <a:pt x="0" y="3255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7562" b="-267562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0" y="0"/>
              <a:ext cx="5305349" cy="3255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439"/>
                </a:lnSpc>
              </a:pPr>
              <a:r>
                <a:rPr lang="en-US" sz="1200" dirty="0" err="1">
                  <a:solidFill>
                    <a:srgbClr val="64748B"/>
                  </a:solidFill>
                  <a:latin typeface="Open Sans"/>
                  <a:ea typeface="Open Sans"/>
                  <a:cs typeface="Open Sans"/>
                  <a:sym typeface="Open Sans"/>
                </a:rPr>
                <a:t>Avaliação</a:t>
              </a:r>
              <a:r>
                <a:rPr lang="en-US" sz="1200" dirty="0">
                  <a:solidFill>
                    <a:srgbClr val="64748B"/>
                  </a:solidFill>
                  <a:latin typeface="Open Sans"/>
                  <a:ea typeface="Open Sans"/>
                  <a:cs typeface="Open Sans"/>
                  <a:sym typeface="Open Sans"/>
                </a:rPr>
                <a:t> das </a:t>
              </a:r>
              <a:r>
                <a:rPr lang="en-US" sz="1200" dirty="0" err="1">
                  <a:solidFill>
                    <a:srgbClr val="64748B"/>
                  </a:solidFill>
                  <a:latin typeface="Open Sans"/>
                  <a:ea typeface="Open Sans"/>
                  <a:cs typeface="Open Sans"/>
                  <a:sym typeface="Open Sans"/>
                </a:rPr>
                <a:t>necessidades</a:t>
              </a:r>
              <a:r>
                <a:rPr lang="en-US" sz="1200" dirty="0">
                  <a:solidFill>
                    <a:srgbClr val="64748B"/>
                  </a:solidFill>
                  <a:latin typeface="Open Sans"/>
                  <a:ea typeface="Open Sans"/>
                  <a:cs typeface="Open Sans"/>
                  <a:sym typeface="Open Sans"/>
                </a:rPr>
                <a:t> e dos </a:t>
              </a:r>
              <a:r>
                <a:rPr lang="en-US" sz="1200" dirty="0" err="1">
                  <a:solidFill>
                    <a:srgbClr val="64748B"/>
                  </a:solidFill>
                  <a:latin typeface="Open Sans"/>
                  <a:ea typeface="Open Sans"/>
                  <a:cs typeface="Open Sans"/>
                  <a:sym typeface="Open Sans"/>
                </a:rPr>
                <a:t>modelos</a:t>
              </a:r>
              <a:r>
                <a:rPr lang="en-US" sz="1200" dirty="0">
                  <a:solidFill>
                    <a:srgbClr val="64748B"/>
                  </a:solidFill>
                  <a:latin typeface="Open Sans"/>
                  <a:ea typeface="Open Sans"/>
                  <a:cs typeface="Open Sans"/>
                  <a:sym typeface="Open Sans"/>
                </a:rPr>
                <a:t> </a:t>
              </a:r>
              <a:r>
                <a:rPr lang="en-US" sz="1200" dirty="0" err="1">
                  <a:solidFill>
                    <a:srgbClr val="64748B"/>
                  </a:solidFill>
                  <a:latin typeface="Open Sans"/>
                  <a:ea typeface="Open Sans"/>
                  <a:cs typeface="Open Sans"/>
                  <a:sym typeface="Open Sans"/>
                </a:rPr>
                <a:t>aplicáveis</a:t>
              </a:r>
              <a:r>
                <a:rPr lang="en-US" sz="1200" dirty="0">
                  <a:solidFill>
                    <a:srgbClr val="64748B"/>
                  </a:solidFill>
                  <a:latin typeface="Open Sans"/>
                  <a:ea typeface="Open Sans"/>
                  <a:cs typeface="Open Sans"/>
                  <a:sym typeface="Open Sans"/>
                </a:rPr>
                <a:t> para o </a:t>
              </a:r>
              <a:r>
                <a:rPr lang="en-US" sz="1200" dirty="0" err="1">
                  <a:solidFill>
                    <a:srgbClr val="64748B"/>
                  </a:solidFill>
                  <a:latin typeface="Open Sans"/>
                  <a:ea typeface="Open Sans"/>
                  <a:cs typeface="Open Sans"/>
                  <a:sym typeface="Open Sans"/>
                </a:rPr>
                <a:t>negócio</a:t>
              </a:r>
              <a:r>
                <a:rPr lang="en-US" sz="1200" dirty="0">
                  <a:solidFill>
                    <a:srgbClr val="64748B"/>
                  </a:solidFill>
                  <a:latin typeface="Open Sans"/>
                  <a:ea typeface="Open Sans"/>
                  <a:cs typeface="Open Sans"/>
                  <a:sym typeface="Open Sans"/>
                </a:rPr>
                <a:t>, </a:t>
              </a:r>
              <a:r>
                <a:rPr lang="en-US" sz="1200" dirty="0" err="1">
                  <a:solidFill>
                    <a:srgbClr val="64748B"/>
                  </a:solidFill>
                  <a:latin typeface="Open Sans"/>
                  <a:ea typeface="Open Sans"/>
                  <a:cs typeface="Open Sans"/>
                  <a:sym typeface="Open Sans"/>
                </a:rPr>
                <a:t>como</a:t>
              </a:r>
              <a:r>
                <a:rPr lang="en-US" sz="1200" dirty="0">
                  <a:solidFill>
                    <a:srgbClr val="64748B"/>
                  </a:solidFill>
                  <a:latin typeface="Open Sans"/>
                  <a:ea typeface="Open Sans"/>
                  <a:cs typeface="Open Sans"/>
                  <a:sym typeface="Open Sans"/>
                </a:rPr>
                <a:t> </a:t>
              </a:r>
              <a:r>
                <a:rPr lang="en-US" sz="1200" dirty="0" err="1">
                  <a:solidFill>
                    <a:srgbClr val="64748B"/>
                  </a:solidFill>
                  <a:latin typeface="Open Sans"/>
                  <a:ea typeface="Open Sans"/>
                  <a:cs typeface="Open Sans"/>
                  <a:sym typeface="Open Sans"/>
                </a:rPr>
                <a:t>também</a:t>
              </a:r>
              <a:r>
                <a:rPr lang="en-US" sz="1200" dirty="0">
                  <a:solidFill>
                    <a:srgbClr val="64748B"/>
                  </a:solidFill>
                  <a:latin typeface="Open Sans"/>
                  <a:ea typeface="Open Sans"/>
                  <a:cs typeface="Open Sans"/>
                  <a:sym typeface="Open Sans"/>
                </a:rPr>
                <a:t> </a:t>
              </a:r>
              <a:r>
                <a:rPr lang="en-US" sz="1200" dirty="0" err="1">
                  <a:solidFill>
                    <a:srgbClr val="64748B"/>
                  </a:solidFill>
                  <a:latin typeface="Open Sans"/>
                  <a:ea typeface="Open Sans"/>
                  <a:cs typeface="Open Sans"/>
                  <a:sym typeface="Open Sans"/>
                </a:rPr>
                <a:t>sugerir</a:t>
              </a:r>
              <a:r>
                <a:rPr lang="en-US" sz="1200" dirty="0">
                  <a:solidFill>
                    <a:srgbClr val="64748B"/>
                  </a:solidFill>
                  <a:latin typeface="Open Sans"/>
                  <a:ea typeface="Open Sans"/>
                  <a:cs typeface="Open Sans"/>
                  <a:sym typeface="Open Sans"/>
                </a:rPr>
                <a:t> </a:t>
              </a:r>
              <a:r>
                <a:rPr lang="en-US" sz="1200" dirty="0" err="1">
                  <a:solidFill>
                    <a:srgbClr val="64748B"/>
                  </a:solidFill>
                  <a:latin typeface="Open Sans"/>
                  <a:ea typeface="Open Sans"/>
                  <a:cs typeface="Open Sans"/>
                  <a:sym typeface="Open Sans"/>
                </a:rPr>
                <a:t>os</a:t>
              </a:r>
              <a:r>
                <a:rPr lang="en-US" sz="1200" dirty="0">
                  <a:solidFill>
                    <a:srgbClr val="64748B"/>
                  </a:solidFill>
                  <a:latin typeface="Open Sans"/>
                  <a:ea typeface="Open Sans"/>
                  <a:cs typeface="Open Sans"/>
                  <a:sym typeface="Open Sans"/>
                </a:rPr>
                <a:t> </a:t>
              </a:r>
              <a:r>
                <a:rPr lang="en-US" sz="1200" dirty="0" err="1">
                  <a:solidFill>
                    <a:srgbClr val="64748B"/>
                  </a:solidFill>
                  <a:latin typeface="Open Sans"/>
                  <a:ea typeface="Open Sans"/>
                  <a:cs typeface="Open Sans"/>
                  <a:sym typeface="Open Sans"/>
                </a:rPr>
                <a:t>treinamentos</a:t>
              </a:r>
              <a:r>
                <a:rPr lang="en-US" sz="1200" dirty="0">
                  <a:solidFill>
                    <a:srgbClr val="64748B"/>
                  </a:solidFill>
                  <a:latin typeface="Open Sans"/>
                  <a:ea typeface="Open Sans"/>
                  <a:cs typeface="Open Sans"/>
                  <a:sym typeface="Open Sans"/>
                </a:rPr>
                <a:t> </a:t>
              </a:r>
              <a:r>
                <a:rPr lang="en-US" sz="1200" dirty="0" err="1">
                  <a:solidFill>
                    <a:srgbClr val="64748B"/>
                  </a:solidFill>
                  <a:latin typeface="Open Sans"/>
                  <a:ea typeface="Open Sans"/>
                  <a:cs typeface="Open Sans"/>
                  <a:sym typeface="Open Sans"/>
                </a:rPr>
                <a:t>aplicáveis</a:t>
              </a:r>
              <a:endParaRPr lang="en-US" sz="1200" dirty="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78" name="Freeform 78"/>
          <p:cNvSpPr/>
          <p:nvPr/>
        </p:nvSpPr>
        <p:spPr>
          <a:xfrm>
            <a:off x="5899175" y="4118382"/>
            <a:ext cx="4438497" cy="244145"/>
          </a:xfrm>
          <a:custGeom>
            <a:avLst/>
            <a:gdLst/>
            <a:ahLst/>
            <a:cxnLst/>
            <a:rect l="l" t="t" r="r" b="b"/>
            <a:pathLst>
              <a:path w="5917996" h="325526">
                <a:moveTo>
                  <a:pt x="0" y="0"/>
                </a:moveTo>
                <a:lnTo>
                  <a:pt x="5917996" y="0"/>
                </a:lnTo>
                <a:lnTo>
                  <a:pt x="5917996" y="325526"/>
                </a:lnTo>
                <a:lnTo>
                  <a:pt x="0" y="325526"/>
                </a:lnTo>
                <a:close/>
              </a:path>
            </a:pathLst>
          </a:custGeom>
          <a:blipFill>
            <a:blip r:embed="rId3">
              <a:alphaModFix amt="0"/>
            </a:blip>
            <a:stretch>
              <a:fillRect t="-304233" b="-304234"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80" name="Group 80"/>
          <p:cNvGrpSpPr/>
          <p:nvPr/>
        </p:nvGrpSpPr>
        <p:grpSpPr>
          <a:xfrm>
            <a:off x="5395888" y="3706520"/>
            <a:ext cx="6286043" cy="928573"/>
            <a:chOff x="0" y="0"/>
            <a:chExt cx="8381390" cy="1238098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8381492" cy="1238250"/>
            </a:xfrm>
            <a:custGeom>
              <a:avLst/>
              <a:gdLst/>
              <a:ahLst/>
              <a:cxnLst/>
              <a:rect l="l" t="t" r="r" b="b"/>
              <a:pathLst>
                <a:path w="8381492" h="1238250">
                  <a:moveTo>
                    <a:pt x="0" y="450215"/>
                  </a:moveTo>
                  <a:cubicBezTo>
                    <a:pt x="0" y="201549"/>
                    <a:pt x="201549" y="0"/>
                    <a:pt x="450215" y="0"/>
                  </a:cubicBezTo>
                  <a:lnTo>
                    <a:pt x="7931277" y="0"/>
                  </a:lnTo>
                  <a:cubicBezTo>
                    <a:pt x="8179943" y="0"/>
                    <a:pt x="8381492" y="201549"/>
                    <a:pt x="8381492" y="450215"/>
                  </a:cubicBezTo>
                  <a:lnTo>
                    <a:pt x="8381492" y="788035"/>
                  </a:lnTo>
                  <a:cubicBezTo>
                    <a:pt x="8381492" y="1036701"/>
                    <a:pt x="8179943" y="1238250"/>
                    <a:pt x="7931277" y="1238250"/>
                  </a:cubicBezTo>
                  <a:lnTo>
                    <a:pt x="450215" y="1238250"/>
                  </a:lnTo>
                  <a:cubicBezTo>
                    <a:pt x="201549" y="1238123"/>
                    <a:pt x="0" y="1036574"/>
                    <a:pt x="0" y="787908"/>
                  </a:cubicBezTo>
                  <a:close/>
                </a:path>
              </a:pathLst>
            </a:custGeom>
            <a:solidFill>
              <a:srgbClr val="F8FAFC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5202967" y="3676650"/>
            <a:ext cx="76657" cy="947623"/>
            <a:chOff x="0" y="0"/>
            <a:chExt cx="102210" cy="1263498"/>
          </a:xfrm>
        </p:grpSpPr>
        <p:sp>
          <p:nvSpPr>
            <p:cNvPr id="83" name="Freeform 83"/>
            <p:cNvSpPr/>
            <p:nvPr/>
          </p:nvSpPr>
          <p:spPr>
            <a:xfrm>
              <a:off x="12700" y="12700"/>
              <a:ext cx="76835" cy="1237996"/>
            </a:xfrm>
            <a:custGeom>
              <a:avLst/>
              <a:gdLst/>
              <a:ahLst/>
              <a:cxnLst/>
              <a:rect l="l" t="t" r="r" b="b"/>
              <a:pathLst>
                <a:path w="76835" h="1237996">
                  <a:moveTo>
                    <a:pt x="0" y="50038"/>
                  </a:moveTo>
                  <a:cubicBezTo>
                    <a:pt x="0" y="22479"/>
                    <a:pt x="17145" y="0"/>
                    <a:pt x="38354" y="0"/>
                  </a:cubicBezTo>
                  <a:cubicBezTo>
                    <a:pt x="59563" y="0"/>
                    <a:pt x="76835" y="22479"/>
                    <a:pt x="76835" y="50038"/>
                  </a:cubicBezTo>
                  <a:lnTo>
                    <a:pt x="76835" y="1187958"/>
                  </a:lnTo>
                  <a:cubicBezTo>
                    <a:pt x="76835" y="1215644"/>
                    <a:pt x="59690" y="1237996"/>
                    <a:pt x="38481" y="1237996"/>
                  </a:cubicBezTo>
                  <a:cubicBezTo>
                    <a:pt x="17272" y="1237996"/>
                    <a:pt x="0" y="1215644"/>
                    <a:pt x="0" y="1187958"/>
                  </a:cubicBezTo>
                  <a:close/>
                </a:path>
              </a:pathLst>
            </a:custGeom>
            <a:solidFill>
              <a:srgbClr val="CBD5E1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5465620" y="3689623"/>
            <a:ext cx="200254" cy="229057"/>
            <a:chOff x="0" y="0"/>
            <a:chExt cx="267005" cy="305410"/>
          </a:xfrm>
        </p:grpSpPr>
        <p:sp>
          <p:nvSpPr>
            <p:cNvPr id="85" name="Freeform 85" descr="preencoded.png"/>
            <p:cNvSpPr/>
            <p:nvPr/>
          </p:nvSpPr>
          <p:spPr>
            <a:xfrm>
              <a:off x="0" y="0"/>
              <a:ext cx="266954" cy="305435"/>
            </a:xfrm>
            <a:custGeom>
              <a:avLst/>
              <a:gdLst/>
              <a:ahLst/>
              <a:cxnLst/>
              <a:rect l="l" t="t" r="r" b="b"/>
              <a:pathLst>
                <a:path w="266954" h="305435">
                  <a:moveTo>
                    <a:pt x="0" y="0"/>
                  </a:moveTo>
                  <a:lnTo>
                    <a:pt x="266954" y="0"/>
                  </a:lnTo>
                  <a:lnTo>
                    <a:pt x="266954" y="305435"/>
                  </a:lnTo>
                  <a:lnTo>
                    <a:pt x="0" y="3054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41" r="-589" b="54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5714028" y="3709912"/>
            <a:ext cx="2973610" cy="1444028"/>
            <a:chOff x="-246863" y="-1563265"/>
            <a:chExt cx="3964813" cy="1925367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3717950" cy="362102"/>
            </a:xfrm>
            <a:custGeom>
              <a:avLst/>
              <a:gdLst/>
              <a:ahLst/>
              <a:cxnLst/>
              <a:rect l="l" t="t" r="r" b="b"/>
              <a:pathLst>
                <a:path w="3717950" h="362102">
                  <a:moveTo>
                    <a:pt x="0" y="0"/>
                  </a:moveTo>
                  <a:lnTo>
                    <a:pt x="3717950" y="0"/>
                  </a:lnTo>
                  <a:lnTo>
                    <a:pt x="3717950" y="362102"/>
                  </a:lnTo>
                  <a:lnTo>
                    <a:pt x="0" y="3621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0066" b="-150066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-246863" y="-1563265"/>
              <a:ext cx="3717950" cy="36210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 dirty="0" err="1">
                  <a:solidFill>
                    <a:srgbClr val="334155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Confirmar</a:t>
              </a:r>
              <a:r>
                <a:rPr lang="en-US" sz="1500" b="1" dirty="0">
                  <a:solidFill>
                    <a:srgbClr val="334155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 </a:t>
              </a:r>
              <a:r>
                <a:rPr lang="en-US" sz="1500" b="1" dirty="0" err="1">
                  <a:solidFill>
                    <a:srgbClr val="334155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Responsáveis</a:t>
              </a:r>
              <a:endParaRPr lang="en-US" sz="1500" b="1" dirty="0">
                <a:solidFill>
                  <a:srgbClr val="334155"/>
                </a:solidFill>
                <a:latin typeface="Open Sans Bold"/>
                <a:ea typeface="Open Sans Bold"/>
                <a:cs typeface="Open Sans Bold"/>
                <a:sym typeface="Open Sans Bold"/>
              </a:endParaRP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5752052" y="4089444"/>
            <a:ext cx="4109676" cy="1337444"/>
            <a:chOff x="-196164" y="-1457729"/>
            <a:chExt cx="5479568" cy="1783255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5283404" cy="325526"/>
            </a:xfrm>
            <a:custGeom>
              <a:avLst/>
              <a:gdLst/>
              <a:ahLst/>
              <a:cxnLst/>
              <a:rect l="l" t="t" r="r" b="b"/>
              <a:pathLst>
                <a:path w="5283404" h="325526">
                  <a:moveTo>
                    <a:pt x="0" y="0"/>
                  </a:moveTo>
                  <a:lnTo>
                    <a:pt x="5283404" y="0"/>
                  </a:lnTo>
                  <a:lnTo>
                    <a:pt x="5283404" y="325526"/>
                  </a:lnTo>
                  <a:lnTo>
                    <a:pt x="0" y="3255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6249" b="-266249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-196164" y="-1457729"/>
              <a:ext cx="5283403" cy="3255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439"/>
                </a:lnSpc>
              </a:pPr>
              <a:r>
                <a:rPr lang="en-US" sz="1200" dirty="0">
                  <a:solidFill>
                    <a:srgbClr val="64748B"/>
                  </a:solidFill>
                  <a:latin typeface="Open Sans"/>
                  <a:ea typeface="Open Sans"/>
                  <a:cs typeface="Open Sans"/>
                  <a:sym typeface="Open Sans"/>
                </a:rPr>
                <a:t>Validar </a:t>
              </a:r>
              <a:r>
                <a:rPr lang="en-US" sz="1200" dirty="0" err="1">
                  <a:solidFill>
                    <a:srgbClr val="64748B"/>
                  </a:solidFill>
                  <a:latin typeface="Open Sans"/>
                  <a:ea typeface="Open Sans"/>
                  <a:cs typeface="Open Sans"/>
                  <a:sym typeface="Open Sans"/>
                </a:rPr>
                <a:t>quem</a:t>
              </a:r>
              <a:r>
                <a:rPr lang="en-US" sz="1200" dirty="0">
                  <a:solidFill>
                    <a:srgbClr val="64748B"/>
                  </a:solidFill>
                  <a:latin typeface="Open Sans"/>
                  <a:ea typeface="Open Sans"/>
                  <a:cs typeface="Open Sans"/>
                  <a:sym typeface="Open Sans"/>
                </a:rPr>
                <a:t>  </a:t>
              </a:r>
              <a:r>
                <a:rPr lang="en-US" sz="1200" dirty="0" err="1">
                  <a:solidFill>
                    <a:srgbClr val="64748B"/>
                  </a:solidFill>
                  <a:latin typeface="Open Sans"/>
                  <a:ea typeface="Open Sans"/>
                  <a:cs typeface="Open Sans"/>
                  <a:sym typeface="Open Sans"/>
                </a:rPr>
                <a:t>irá</a:t>
              </a:r>
              <a:r>
                <a:rPr lang="en-US" sz="1200" dirty="0">
                  <a:solidFill>
                    <a:srgbClr val="64748B"/>
                  </a:solidFill>
                  <a:latin typeface="Open Sans"/>
                  <a:ea typeface="Open Sans"/>
                  <a:cs typeface="Open Sans"/>
                  <a:sym typeface="Open Sans"/>
                </a:rPr>
                <a:t> </a:t>
              </a:r>
              <a:r>
                <a:rPr lang="en-US" sz="1200" dirty="0" err="1">
                  <a:solidFill>
                    <a:srgbClr val="64748B"/>
                  </a:solidFill>
                  <a:latin typeface="Open Sans"/>
                  <a:ea typeface="Open Sans"/>
                  <a:cs typeface="Open Sans"/>
                  <a:sym typeface="Open Sans"/>
                </a:rPr>
                <a:t>operacionalizar</a:t>
              </a:r>
              <a:endParaRPr lang="en-US" sz="1200" dirty="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5359469" y="4808315"/>
            <a:ext cx="6286043" cy="928573"/>
            <a:chOff x="0" y="0"/>
            <a:chExt cx="8381390" cy="1238098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8381492" cy="1238250"/>
            </a:xfrm>
            <a:custGeom>
              <a:avLst/>
              <a:gdLst/>
              <a:ahLst/>
              <a:cxnLst/>
              <a:rect l="l" t="t" r="r" b="b"/>
              <a:pathLst>
                <a:path w="8381492" h="1238250">
                  <a:moveTo>
                    <a:pt x="0" y="450215"/>
                  </a:moveTo>
                  <a:cubicBezTo>
                    <a:pt x="0" y="201549"/>
                    <a:pt x="201549" y="0"/>
                    <a:pt x="450215" y="0"/>
                  </a:cubicBezTo>
                  <a:lnTo>
                    <a:pt x="7931277" y="0"/>
                  </a:lnTo>
                  <a:cubicBezTo>
                    <a:pt x="8179943" y="0"/>
                    <a:pt x="8381492" y="201549"/>
                    <a:pt x="8381492" y="450215"/>
                  </a:cubicBezTo>
                  <a:lnTo>
                    <a:pt x="8381492" y="788035"/>
                  </a:lnTo>
                  <a:cubicBezTo>
                    <a:pt x="8381492" y="1036701"/>
                    <a:pt x="8179943" y="1238250"/>
                    <a:pt x="7931277" y="1238250"/>
                  </a:cubicBezTo>
                  <a:lnTo>
                    <a:pt x="450215" y="1238250"/>
                  </a:lnTo>
                  <a:cubicBezTo>
                    <a:pt x="201549" y="1238123"/>
                    <a:pt x="0" y="1036574"/>
                    <a:pt x="0" y="787908"/>
                  </a:cubicBezTo>
                  <a:close/>
                </a:path>
              </a:pathLst>
            </a:custGeom>
            <a:solidFill>
              <a:srgbClr val="F8FAFC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5212492" y="4733593"/>
            <a:ext cx="76657" cy="947623"/>
            <a:chOff x="0" y="0"/>
            <a:chExt cx="102210" cy="1263498"/>
          </a:xfrm>
        </p:grpSpPr>
        <p:sp>
          <p:nvSpPr>
            <p:cNvPr id="95" name="Freeform 95"/>
            <p:cNvSpPr/>
            <p:nvPr/>
          </p:nvSpPr>
          <p:spPr>
            <a:xfrm>
              <a:off x="12700" y="12700"/>
              <a:ext cx="76835" cy="1237996"/>
            </a:xfrm>
            <a:custGeom>
              <a:avLst/>
              <a:gdLst/>
              <a:ahLst/>
              <a:cxnLst/>
              <a:rect l="l" t="t" r="r" b="b"/>
              <a:pathLst>
                <a:path w="76835" h="1237996">
                  <a:moveTo>
                    <a:pt x="0" y="50038"/>
                  </a:moveTo>
                  <a:cubicBezTo>
                    <a:pt x="0" y="22479"/>
                    <a:pt x="17145" y="0"/>
                    <a:pt x="38354" y="0"/>
                  </a:cubicBezTo>
                  <a:cubicBezTo>
                    <a:pt x="59563" y="0"/>
                    <a:pt x="76835" y="22479"/>
                    <a:pt x="76835" y="50038"/>
                  </a:cubicBezTo>
                  <a:lnTo>
                    <a:pt x="76835" y="1187958"/>
                  </a:lnTo>
                  <a:cubicBezTo>
                    <a:pt x="76835" y="1215644"/>
                    <a:pt x="59690" y="1237996"/>
                    <a:pt x="38481" y="1237996"/>
                  </a:cubicBezTo>
                  <a:cubicBezTo>
                    <a:pt x="17272" y="1237996"/>
                    <a:pt x="0" y="1215644"/>
                    <a:pt x="0" y="1187958"/>
                  </a:cubicBezTo>
                  <a:close/>
                </a:path>
              </a:pathLst>
            </a:custGeom>
            <a:solidFill>
              <a:srgbClr val="CBD5E1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5495108" y="4953686"/>
            <a:ext cx="229057" cy="229057"/>
            <a:chOff x="0" y="0"/>
            <a:chExt cx="305410" cy="305410"/>
          </a:xfrm>
        </p:grpSpPr>
        <p:sp>
          <p:nvSpPr>
            <p:cNvPr id="97" name="Freeform 97" descr="preencoded.png"/>
            <p:cNvSpPr/>
            <p:nvPr/>
          </p:nvSpPr>
          <p:spPr>
            <a:xfrm>
              <a:off x="0" y="0"/>
              <a:ext cx="305435" cy="305435"/>
            </a:xfrm>
            <a:custGeom>
              <a:avLst/>
              <a:gdLst/>
              <a:ahLst/>
              <a:cxnLst/>
              <a:rect l="l" t="t" r="r" b="b"/>
              <a:pathLst>
                <a:path w="305435" h="305435">
                  <a:moveTo>
                    <a:pt x="0" y="0"/>
                  </a:moveTo>
                  <a:lnTo>
                    <a:pt x="305435" y="0"/>
                  </a:lnTo>
                  <a:lnTo>
                    <a:pt x="305435" y="305435"/>
                  </a:lnTo>
                  <a:lnTo>
                    <a:pt x="0" y="3054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r="8" b="8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8" name="Group 98"/>
          <p:cNvGrpSpPr/>
          <p:nvPr/>
        </p:nvGrpSpPr>
        <p:grpSpPr>
          <a:xfrm>
            <a:off x="5899108" y="4859741"/>
            <a:ext cx="3481188" cy="1358560"/>
            <a:chOff x="-38495" y="-1449308"/>
            <a:chExt cx="4641585" cy="1811410"/>
          </a:xfrm>
        </p:grpSpPr>
        <p:sp>
          <p:nvSpPr>
            <p:cNvPr id="99" name="Freeform 99"/>
            <p:cNvSpPr/>
            <p:nvPr/>
          </p:nvSpPr>
          <p:spPr>
            <a:xfrm>
              <a:off x="0" y="0"/>
              <a:ext cx="4603090" cy="362102"/>
            </a:xfrm>
            <a:custGeom>
              <a:avLst/>
              <a:gdLst/>
              <a:ahLst/>
              <a:cxnLst/>
              <a:rect l="l" t="t" r="r" b="b"/>
              <a:pathLst>
                <a:path w="4603090" h="362102">
                  <a:moveTo>
                    <a:pt x="0" y="0"/>
                  </a:moveTo>
                  <a:lnTo>
                    <a:pt x="4603090" y="0"/>
                  </a:lnTo>
                  <a:lnTo>
                    <a:pt x="4603090" y="362102"/>
                  </a:lnTo>
                  <a:lnTo>
                    <a:pt x="0" y="3621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7696" b="-197696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-38495" y="-1449308"/>
              <a:ext cx="4603090" cy="36210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 dirty="0" err="1">
                  <a:solidFill>
                    <a:srgbClr val="334155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Revisar</a:t>
              </a:r>
              <a:r>
                <a:rPr lang="en-US" sz="1500" b="1" dirty="0">
                  <a:solidFill>
                    <a:srgbClr val="334155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 </a:t>
              </a:r>
              <a:r>
                <a:rPr lang="en-US" sz="1500" b="1" dirty="0" err="1">
                  <a:solidFill>
                    <a:srgbClr val="334155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Tendências</a:t>
              </a:r>
              <a:r>
                <a:rPr lang="en-US" sz="1500" b="1" dirty="0">
                  <a:solidFill>
                    <a:srgbClr val="334155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 e Forecast</a:t>
              </a:r>
            </a:p>
          </p:txBody>
        </p:sp>
      </p:grpSp>
      <p:grpSp>
        <p:nvGrpSpPr>
          <p:cNvPr id="101" name="Group 101"/>
          <p:cNvGrpSpPr/>
          <p:nvPr/>
        </p:nvGrpSpPr>
        <p:grpSpPr>
          <a:xfrm>
            <a:off x="5876053" y="5230823"/>
            <a:ext cx="3504243" cy="1260427"/>
            <a:chOff x="-69235" y="-1355040"/>
            <a:chExt cx="4672325" cy="1680566"/>
          </a:xfrm>
        </p:grpSpPr>
        <p:sp>
          <p:nvSpPr>
            <p:cNvPr id="102" name="Freeform 102"/>
            <p:cNvSpPr/>
            <p:nvPr/>
          </p:nvSpPr>
          <p:spPr>
            <a:xfrm>
              <a:off x="0" y="0"/>
              <a:ext cx="4603090" cy="325526"/>
            </a:xfrm>
            <a:custGeom>
              <a:avLst/>
              <a:gdLst/>
              <a:ahLst/>
              <a:cxnLst/>
              <a:rect l="l" t="t" r="r" b="b"/>
              <a:pathLst>
                <a:path w="4603090" h="325526">
                  <a:moveTo>
                    <a:pt x="0" y="0"/>
                  </a:moveTo>
                  <a:lnTo>
                    <a:pt x="4603090" y="0"/>
                  </a:lnTo>
                  <a:lnTo>
                    <a:pt x="4603090" y="325526"/>
                  </a:lnTo>
                  <a:lnTo>
                    <a:pt x="0" y="3255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5527" b="-225527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-69235" y="-1355040"/>
              <a:ext cx="4603090" cy="3255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439"/>
                </a:lnSpc>
              </a:pPr>
              <a:r>
                <a:rPr lang="en-US" sz="1200" dirty="0">
                  <a:solidFill>
                    <a:srgbClr val="64748B"/>
                  </a:solidFill>
                  <a:latin typeface="Open Sans"/>
                  <a:ea typeface="Open Sans"/>
                  <a:cs typeface="Open Sans"/>
                  <a:sym typeface="Open Sans"/>
                </a:rPr>
                <a:t>Analise no Segundo </a:t>
              </a:r>
              <a:r>
                <a:rPr lang="en-US" sz="1200" dirty="0" err="1">
                  <a:solidFill>
                    <a:srgbClr val="64748B"/>
                  </a:solidFill>
                  <a:latin typeface="Open Sans"/>
                  <a:ea typeface="Open Sans"/>
                  <a:cs typeface="Open Sans"/>
                  <a:sym typeface="Open Sans"/>
                </a:rPr>
                <a:t>trimestre</a:t>
              </a:r>
              <a:r>
                <a:rPr lang="en-US" sz="1200" dirty="0">
                  <a:solidFill>
                    <a:srgbClr val="64748B"/>
                  </a:solidFill>
                  <a:latin typeface="Open Sans"/>
                  <a:ea typeface="Open Sans"/>
                  <a:cs typeface="Open Sans"/>
                  <a:sym typeface="Open Sans"/>
                </a:rPr>
                <a:t> </a:t>
              </a:r>
              <a:r>
                <a:rPr lang="en-US" sz="1200" dirty="0" err="1">
                  <a:solidFill>
                    <a:srgbClr val="64748B"/>
                  </a:solidFill>
                  <a:latin typeface="Open Sans"/>
                  <a:ea typeface="Open Sans"/>
                  <a:cs typeface="Open Sans"/>
                  <a:sym typeface="Open Sans"/>
                </a:rPr>
                <a:t>após</a:t>
              </a:r>
              <a:r>
                <a:rPr lang="en-US" sz="1200" dirty="0">
                  <a:solidFill>
                    <a:srgbClr val="64748B"/>
                  </a:solidFill>
                  <a:latin typeface="Open Sans"/>
                  <a:ea typeface="Open Sans"/>
                  <a:cs typeface="Open Sans"/>
                  <a:sym typeface="Open Sans"/>
                </a:rPr>
                <a:t> </a:t>
              </a:r>
              <a:r>
                <a:rPr lang="en-US" sz="1200" dirty="0" err="1">
                  <a:solidFill>
                    <a:srgbClr val="64748B"/>
                  </a:solidFill>
                  <a:latin typeface="Open Sans"/>
                  <a:ea typeface="Open Sans"/>
                  <a:cs typeface="Open Sans"/>
                  <a:sym typeface="Open Sans"/>
                </a:rPr>
                <a:t>implantação</a:t>
              </a:r>
              <a:r>
                <a:rPr lang="en-US" sz="1200" dirty="0">
                  <a:solidFill>
                    <a:srgbClr val="64748B"/>
                  </a:solidFill>
                  <a:latin typeface="Open Sans"/>
                  <a:ea typeface="Open Sans"/>
                  <a:cs typeface="Open Sans"/>
                  <a:sym typeface="Open Sans"/>
                </a:rPr>
                <a:t> dos </a:t>
              </a:r>
              <a:r>
                <a:rPr lang="en-US" sz="1200" dirty="0" err="1">
                  <a:solidFill>
                    <a:srgbClr val="64748B"/>
                  </a:solidFill>
                  <a:latin typeface="Open Sans"/>
                  <a:ea typeface="Open Sans"/>
                  <a:cs typeface="Open Sans"/>
                  <a:sym typeface="Open Sans"/>
                </a:rPr>
                <a:t>processos</a:t>
              </a:r>
              <a:r>
                <a:rPr lang="en-US" sz="1200" dirty="0">
                  <a:solidFill>
                    <a:srgbClr val="64748B"/>
                  </a:solidFill>
                  <a:latin typeface="Open Sans"/>
                  <a:ea typeface="Open Sans"/>
                  <a:cs typeface="Open Sans"/>
                  <a:sym typeface="Open Sans"/>
                </a:rPr>
                <a:t> de </a:t>
              </a:r>
              <a:r>
                <a:rPr lang="en-US" sz="1200" dirty="0" err="1">
                  <a:solidFill>
                    <a:srgbClr val="64748B"/>
                  </a:solidFill>
                  <a:latin typeface="Open Sans"/>
                  <a:ea typeface="Open Sans"/>
                  <a:cs typeface="Open Sans"/>
                  <a:sym typeface="Open Sans"/>
                </a:rPr>
                <a:t>acompanhamento</a:t>
              </a:r>
              <a:endParaRPr lang="en-US" sz="1200" dirty="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04" name="Group 104"/>
          <p:cNvGrpSpPr/>
          <p:nvPr/>
        </p:nvGrpSpPr>
        <p:grpSpPr>
          <a:xfrm>
            <a:off x="705079" y="8233791"/>
            <a:ext cx="16878757" cy="1261720"/>
            <a:chOff x="0" y="0"/>
            <a:chExt cx="22505010" cy="1682293"/>
          </a:xfrm>
        </p:grpSpPr>
        <p:sp>
          <p:nvSpPr>
            <p:cNvPr id="105" name="Freeform 105"/>
            <p:cNvSpPr/>
            <p:nvPr/>
          </p:nvSpPr>
          <p:spPr>
            <a:xfrm>
              <a:off x="12700" y="12700"/>
              <a:ext cx="22479636" cy="1656842"/>
            </a:xfrm>
            <a:custGeom>
              <a:avLst/>
              <a:gdLst/>
              <a:ahLst/>
              <a:cxnLst/>
              <a:rect l="l" t="t" r="r" b="b"/>
              <a:pathLst>
                <a:path w="22479636" h="1656842">
                  <a:moveTo>
                    <a:pt x="0" y="504444"/>
                  </a:moveTo>
                  <a:cubicBezTo>
                    <a:pt x="0" y="225806"/>
                    <a:pt x="229108" y="0"/>
                    <a:pt x="511683" y="0"/>
                  </a:cubicBezTo>
                  <a:lnTo>
                    <a:pt x="21967952" y="0"/>
                  </a:lnTo>
                  <a:cubicBezTo>
                    <a:pt x="22250527" y="0"/>
                    <a:pt x="22479636" y="225806"/>
                    <a:pt x="22479636" y="504444"/>
                  </a:cubicBezTo>
                  <a:lnTo>
                    <a:pt x="22479636" y="1152398"/>
                  </a:lnTo>
                  <a:cubicBezTo>
                    <a:pt x="22479636" y="1431036"/>
                    <a:pt x="22250527" y="1656842"/>
                    <a:pt x="21967952" y="1656842"/>
                  </a:cubicBezTo>
                  <a:lnTo>
                    <a:pt x="511683" y="1656842"/>
                  </a:lnTo>
                  <a:cubicBezTo>
                    <a:pt x="229108" y="1656842"/>
                    <a:pt x="0" y="1431036"/>
                    <a:pt x="0" y="1152398"/>
                  </a:cubicBezTo>
                  <a:close/>
                </a:path>
              </a:pathLst>
            </a:custGeom>
            <a:solidFill>
              <a:srgbClr val="002B49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06" name="Group 106"/>
          <p:cNvGrpSpPr/>
          <p:nvPr/>
        </p:nvGrpSpPr>
        <p:grpSpPr>
          <a:xfrm>
            <a:off x="1142543" y="8654796"/>
            <a:ext cx="429311" cy="429311"/>
            <a:chOff x="0" y="0"/>
            <a:chExt cx="572414" cy="572414"/>
          </a:xfrm>
        </p:grpSpPr>
        <p:sp>
          <p:nvSpPr>
            <p:cNvPr id="107" name="Freeform 107" descr="preencoded.png"/>
            <p:cNvSpPr/>
            <p:nvPr/>
          </p:nvSpPr>
          <p:spPr>
            <a:xfrm>
              <a:off x="0" y="0"/>
              <a:ext cx="572389" cy="572389"/>
            </a:xfrm>
            <a:custGeom>
              <a:avLst/>
              <a:gdLst/>
              <a:ahLst/>
              <a:cxnLst/>
              <a:rect l="l" t="t" r="r" b="b"/>
              <a:pathLst>
                <a:path w="572389" h="572389">
                  <a:moveTo>
                    <a:pt x="0" y="0"/>
                  </a:moveTo>
                  <a:lnTo>
                    <a:pt x="572389" y="0"/>
                  </a:lnTo>
                  <a:lnTo>
                    <a:pt x="572389" y="572389"/>
                  </a:lnTo>
                  <a:lnTo>
                    <a:pt x="0" y="572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r="-4" b="-4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08" name="Group 108"/>
          <p:cNvGrpSpPr/>
          <p:nvPr/>
        </p:nvGrpSpPr>
        <p:grpSpPr>
          <a:xfrm>
            <a:off x="1857146" y="8529980"/>
            <a:ext cx="13174218" cy="342900"/>
            <a:chOff x="0" y="0"/>
            <a:chExt cx="17565624" cy="457200"/>
          </a:xfrm>
        </p:grpSpPr>
        <p:sp>
          <p:nvSpPr>
            <p:cNvPr id="109" name="Freeform 109"/>
            <p:cNvSpPr/>
            <p:nvPr/>
          </p:nvSpPr>
          <p:spPr>
            <a:xfrm>
              <a:off x="0" y="0"/>
              <a:ext cx="17565624" cy="457200"/>
            </a:xfrm>
            <a:custGeom>
              <a:avLst/>
              <a:gdLst/>
              <a:ahLst/>
              <a:cxnLst/>
              <a:rect l="l" t="t" r="r" b="b"/>
              <a:pathLst>
                <a:path w="17565624" h="457200">
                  <a:moveTo>
                    <a:pt x="0" y="0"/>
                  </a:moveTo>
                  <a:lnTo>
                    <a:pt x="17565624" y="0"/>
                  </a:lnTo>
                  <a:lnTo>
                    <a:pt x="17565624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98615" b="-698615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0" y="0"/>
              <a:ext cx="17565624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i="1">
                  <a:solidFill>
                    <a:srgbClr val="FFFFFF"/>
                  </a:solidFill>
                  <a:latin typeface="Montserrat Bold Italics"/>
                  <a:ea typeface="Montserrat Bold Italics"/>
                  <a:cs typeface="Montserrat Bold Italics"/>
                  <a:sym typeface="Montserrat Bold Italics"/>
                </a:rPr>
                <a:t>"O resultado é consequência da consistência na execução e da velocidade na correção."</a:t>
              </a:r>
            </a:p>
          </p:txBody>
        </p:sp>
      </p:grpSp>
      <p:grpSp>
        <p:nvGrpSpPr>
          <p:cNvPr id="111" name="Group 111"/>
          <p:cNvGrpSpPr/>
          <p:nvPr/>
        </p:nvGrpSpPr>
        <p:grpSpPr>
          <a:xfrm>
            <a:off x="1857146" y="8944204"/>
            <a:ext cx="13174218" cy="257861"/>
            <a:chOff x="0" y="0"/>
            <a:chExt cx="17565624" cy="343814"/>
          </a:xfrm>
        </p:grpSpPr>
        <p:sp>
          <p:nvSpPr>
            <p:cNvPr id="112" name="Freeform 112"/>
            <p:cNvSpPr/>
            <p:nvPr/>
          </p:nvSpPr>
          <p:spPr>
            <a:xfrm>
              <a:off x="0" y="0"/>
              <a:ext cx="17565624" cy="343814"/>
            </a:xfrm>
            <a:custGeom>
              <a:avLst/>
              <a:gdLst/>
              <a:ahLst/>
              <a:cxnLst/>
              <a:rect l="l" t="t" r="r" b="b"/>
              <a:pathLst>
                <a:path w="17565624" h="343814">
                  <a:moveTo>
                    <a:pt x="0" y="0"/>
                  </a:moveTo>
                  <a:lnTo>
                    <a:pt x="17565624" y="0"/>
                  </a:lnTo>
                  <a:lnTo>
                    <a:pt x="17565624" y="343814"/>
                  </a:lnTo>
                  <a:lnTo>
                    <a:pt x="0" y="34381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45500" b="-945500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0" y="-9525"/>
              <a:ext cx="17565624" cy="3533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Contamos com o compromisso de todos para elevar nossa maturidade de gestão.</a:t>
              </a:r>
            </a:p>
          </p:txBody>
        </p:sp>
      </p:grpSp>
      <p:grpSp>
        <p:nvGrpSpPr>
          <p:cNvPr id="114" name="Group 114"/>
          <p:cNvGrpSpPr/>
          <p:nvPr/>
        </p:nvGrpSpPr>
        <p:grpSpPr>
          <a:xfrm>
            <a:off x="14844903" y="8612353"/>
            <a:ext cx="2319223" cy="504596"/>
            <a:chOff x="0" y="0"/>
            <a:chExt cx="3092298" cy="672795"/>
          </a:xfrm>
        </p:grpSpPr>
        <p:sp>
          <p:nvSpPr>
            <p:cNvPr id="115" name="Freeform 115"/>
            <p:cNvSpPr/>
            <p:nvPr/>
          </p:nvSpPr>
          <p:spPr>
            <a:xfrm>
              <a:off x="12700" y="12700"/>
              <a:ext cx="3066923" cy="647446"/>
            </a:xfrm>
            <a:custGeom>
              <a:avLst/>
              <a:gdLst/>
              <a:ahLst/>
              <a:cxnLst/>
              <a:rect l="l" t="t" r="r" b="b"/>
              <a:pathLst>
                <a:path w="3066923" h="647446">
                  <a:moveTo>
                    <a:pt x="0" y="323723"/>
                  </a:moveTo>
                  <a:cubicBezTo>
                    <a:pt x="0" y="144907"/>
                    <a:pt x="149352" y="0"/>
                    <a:pt x="333629" y="0"/>
                  </a:cubicBezTo>
                  <a:lnTo>
                    <a:pt x="2733294" y="0"/>
                  </a:lnTo>
                  <a:cubicBezTo>
                    <a:pt x="2917571" y="0"/>
                    <a:pt x="3066923" y="144907"/>
                    <a:pt x="3066923" y="323723"/>
                  </a:cubicBezTo>
                  <a:cubicBezTo>
                    <a:pt x="3066923" y="502539"/>
                    <a:pt x="2917571" y="647446"/>
                    <a:pt x="2733294" y="647446"/>
                  </a:cubicBezTo>
                  <a:lnTo>
                    <a:pt x="333629" y="647446"/>
                  </a:lnTo>
                  <a:cubicBezTo>
                    <a:pt x="149352" y="647446"/>
                    <a:pt x="0" y="502412"/>
                    <a:pt x="0" y="323723"/>
                  </a:cubicBezTo>
                  <a:close/>
                </a:path>
              </a:pathLst>
            </a:custGeom>
            <a:solidFill>
              <a:srgbClr val="FFFFFF">
                <a:alpha val="784"/>
              </a:srgbClr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16" name="Group 116"/>
          <p:cNvGrpSpPr/>
          <p:nvPr/>
        </p:nvGrpSpPr>
        <p:grpSpPr>
          <a:xfrm>
            <a:off x="14854428" y="8621878"/>
            <a:ext cx="2393442" cy="486918"/>
            <a:chOff x="0" y="0"/>
            <a:chExt cx="3191256" cy="649224"/>
          </a:xfrm>
        </p:grpSpPr>
        <p:sp>
          <p:nvSpPr>
            <p:cNvPr id="117" name="Freeform 117"/>
            <p:cNvSpPr/>
            <p:nvPr/>
          </p:nvSpPr>
          <p:spPr>
            <a:xfrm>
              <a:off x="0" y="0"/>
              <a:ext cx="3191256" cy="649224"/>
            </a:xfrm>
            <a:custGeom>
              <a:avLst/>
              <a:gdLst/>
              <a:ahLst/>
              <a:cxnLst/>
              <a:rect l="l" t="t" r="r" b="b"/>
              <a:pathLst>
                <a:path w="3191256" h="649224">
                  <a:moveTo>
                    <a:pt x="0" y="0"/>
                  </a:moveTo>
                  <a:lnTo>
                    <a:pt x="3191256" y="0"/>
                  </a:lnTo>
                  <a:lnTo>
                    <a:pt x="3191256" y="649224"/>
                  </a:lnTo>
                  <a:lnTo>
                    <a:pt x="0" y="6492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778" b="-45778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0" y="-9525"/>
              <a:ext cx="3191256" cy="65874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#CulturaDeResultados</a:t>
              </a:r>
            </a:p>
          </p:txBody>
        </p:sp>
      </p:grpSp>
      <p:grpSp>
        <p:nvGrpSpPr>
          <p:cNvPr id="119" name="Group 119"/>
          <p:cNvGrpSpPr/>
          <p:nvPr/>
        </p:nvGrpSpPr>
        <p:grpSpPr>
          <a:xfrm>
            <a:off x="527837" y="4289603"/>
            <a:ext cx="286207" cy="286207"/>
            <a:chOff x="0" y="0"/>
            <a:chExt cx="381610" cy="381610"/>
          </a:xfrm>
        </p:grpSpPr>
        <p:sp>
          <p:nvSpPr>
            <p:cNvPr id="120" name="Freeform 120"/>
            <p:cNvSpPr/>
            <p:nvPr/>
          </p:nvSpPr>
          <p:spPr>
            <a:xfrm>
              <a:off x="38100" y="38100"/>
              <a:ext cx="305435" cy="305435"/>
            </a:xfrm>
            <a:custGeom>
              <a:avLst/>
              <a:gdLst/>
              <a:ahLst/>
              <a:cxnLst/>
              <a:rect l="l" t="t" r="r" b="b"/>
              <a:pathLst>
                <a:path w="305435" h="305435">
                  <a:moveTo>
                    <a:pt x="0" y="152654"/>
                  </a:moveTo>
                  <a:cubicBezTo>
                    <a:pt x="0" y="68326"/>
                    <a:pt x="68326" y="0"/>
                    <a:pt x="152654" y="0"/>
                  </a:cubicBezTo>
                  <a:cubicBezTo>
                    <a:pt x="236982" y="0"/>
                    <a:pt x="305435" y="68326"/>
                    <a:pt x="305435" y="152654"/>
                  </a:cubicBezTo>
                  <a:cubicBezTo>
                    <a:pt x="305435" y="236982"/>
                    <a:pt x="236982" y="305435"/>
                    <a:pt x="152654" y="305435"/>
                  </a:cubicBezTo>
                  <a:cubicBezTo>
                    <a:pt x="68326" y="305435"/>
                    <a:pt x="0" y="236982"/>
                    <a:pt x="0" y="152654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21" name="Freeform 121"/>
            <p:cNvSpPr/>
            <p:nvPr/>
          </p:nvSpPr>
          <p:spPr>
            <a:xfrm>
              <a:off x="0" y="0"/>
              <a:ext cx="381508" cy="381635"/>
            </a:xfrm>
            <a:custGeom>
              <a:avLst/>
              <a:gdLst/>
              <a:ahLst/>
              <a:cxnLst/>
              <a:rect l="l" t="t" r="r" b="b"/>
              <a:pathLst>
                <a:path w="381508" h="381635">
                  <a:moveTo>
                    <a:pt x="0" y="190754"/>
                  </a:moveTo>
                  <a:cubicBezTo>
                    <a:pt x="0" y="85471"/>
                    <a:pt x="85471" y="0"/>
                    <a:pt x="190754" y="0"/>
                  </a:cubicBezTo>
                  <a:lnTo>
                    <a:pt x="190754" y="38100"/>
                  </a:lnTo>
                  <a:lnTo>
                    <a:pt x="190754" y="0"/>
                  </a:lnTo>
                  <a:cubicBezTo>
                    <a:pt x="296164" y="0"/>
                    <a:pt x="381508" y="85471"/>
                    <a:pt x="381508" y="190754"/>
                  </a:cubicBezTo>
                  <a:cubicBezTo>
                    <a:pt x="381508" y="296037"/>
                    <a:pt x="296164" y="381635"/>
                    <a:pt x="190754" y="381635"/>
                  </a:cubicBezTo>
                  <a:lnTo>
                    <a:pt x="190754" y="343535"/>
                  </a:lnTo>
                  <a:lnTo>
                    <a:pt x="190754" y="381635"/>
                  </a:lnTo>
                  <a:cubicBezTo>
                    <a:pt x="85471" y="381635"/>
                    <a:pt x="0" y="296164"/>
                    <a:pt x="0" y="190754"/>
                  </a:cubicBezTo>
                  <a:lnTo>
                    <a:pt x="38100" y="190754"/>
                  </a:lnTo>
                  <a:lnTo>
                    <a:pt x="69850" y="211836"/>
                  </a:lnTo>
                  <a:cubicBezTo>
                    <a:pt x="60579" y="225806"/>
                    <a:pt x="43180" y="232029"/>
                    <a:pt x="27051" y="227203"/>
                  </a:cubicBezTo>
                  <a:cubicBezTo>
                    <a:pt x="10922" y="222377"/>
                    <a:pt x="0" y="207645"/>
                    <a:pt x="0" y="190754"/>
                  </a:cubicBezTo>
                  <a:moveTo>
                    <a:pt x="76200" y="190754"/>
                  </a:moveTo>
                  <a:lnTo>
                    <a:pt x="38100" y="190754"/>
                  </a:lnTo>
                  <a:lnTo>
                    <a:pt x="6350" y="169672"/>
                  </a:lnTo>
                  <a:cubicBezTo>
                    <a:pt x="15621" y="155702"/>
                    <a:pt x="33020" y="149479"/>
                    <a:pt x="49149" y="154305"/>
                  </a:cubicBezTo>
                  <a:cubicBezTo>
                    <a:pt x="65278" y="159131"/>
                    <a:pt x="76200" y="173990"/>
                    <a:pt x="76200" y="190754"/>
                  </a:cubicBezTo>
                  <a:cubicBezTo>
                    <a:pt x="76200" y="254000"/>
                    <a:pt x="127508" y="305308"/>
                    <a:pt x="190754" y="305308"/>
                  </a:cubicBezTo>
                  <a:cubicBezTo>
                    <a:pt x="254000" y="305308"/>
                    <a:pt x="305308" y="254000"/>
                    <a:pt x="305308" y="190754"/>
                  </a:cubicBezTo>
                  <a:lnTo>
                    <a:pt x="343408" y="190754"/>
                  </a:lnTo>
                  <a:lnTo>
                    <a:pt x="305308" y="190754"/>
                  </a:lnTo>
                  <a:cubicBezTo>
                    <a:pt x="305308" y="127508"/>
                    <a:pt x="254000" y="76200"/>
                    <a:pt x="190754" y="76200"/>
                  </a:cubicBezTo>
                  <a:lnTo>
                    <a:pt x="190754" y="38100"/>
                  </a:lnTo>
                  <a:lnTo>
                    <a:pt x="190754" y="76200"/>
                  </a:lnTo>
                  <a:cubicBezTo>
                    <a:pt x="127508" y="76200"/>
                    <a:pt x="76200" y="127508"/>
                    <a:pt x="76200" y="190754"/>
                  </a:cubicBezTo>
                  <a:close/>
                </a:path>
              </a:pathLst>
            </a:custGeom>
            <a:solidFill>
              <a:srgbClr val="005C99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22" name="Group 122"/>
          <p:cNvGrpSpPr/>
          <p:nvPr/>
        </p:nvGrpSpPr>
        <p:grpSpPr>
          <a:xfrm>
            <a:off x="527837" y="5089246"/>
            <a:ext cx="286207" cy="286207"/>
            <a:chOff x="0" y="0"/>
            <a:chExt cx="381610" cy="381610"/>
          </a:xfrm>
        </p:grpSpPr>
        <p:sp>
          <p:nvSpPr>
            <p:cNvPr id="123" name="Freeform 123"/>
            <p:cNvSpPr/>
            <p:nvPr/>
          </p:nvSpPr>
          <p:spPr>
            <a:xfrm>
              <a:off x="38100" y="38100"/>
              <a:ext cx="305435" cy="305435"/>
            </a:xfrm>
            <a:custGeom>
              <a:avLst/>
              <a:gdLst/>
              <a:ahLst/>
              <a:cxnLst/>
              <a:rect l="l" t="t" r="r" b="b"/>
              <a:pathLst>
                <a:path w="305435" h="305435">
                  <a:moveTo>
                    <a:pt x="0" y="152654"/>
                  </a:moveTo>
                  <a:cubicBezTo>
                    <a:pt x="0" y="68326"/>
                    <a:pt x="68326" y="0"/>
                    <a:pt x="152654" y="0"/>
                  </a:cubicBezTo>
                  <a:cubicBezTo>
                    <a:pt x="236982" y="0"/>
                    <a:pt x="305435" y="68326"/>
                    <a:pt x="305435" y="152654"/>
                  </a:cubicBezTo>
                  <a:cubicBezTo>
                    <a:pt x="305435" y="236982"/>
                    <a:pt x="236982" y="305435"/>
                    <a:pt x="152654" y="305435"/>
                  </a:cubicBezTo>
                  <a:cubicBezTo>
                    <a:pt x="68326" y="305435"/>
                    <a:pt x="0" y="236982"/>
                    <a:pt x="0" y="152654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24" name="Freeform 124"/>
            <p:cNvSpPr/>
            <p:nvPr/>
          </p:nvSpPr>
          <p:spPr>
            <a:xfrm>
              <a:off x="0" y="0"/>
              <a:ext cx="381508" cy="381635"/>
            </a:xfrm>
            <a:custGeom>
              <a:avLst/>
              <a:gdLst/>
              <a:ahLst/>
              <a:cxnLst/>
              <a:rect l="l" t="t" r="r" b="b"/>
              <a:pathLst>
                <a:path w="381508" h="381635">
                  <a:moveTo>
                    <a:pt x="0" y="190754"/>
                  </a:moveTo>
                  <a:cubicBezTo>
                    <a:pt x="0" y="85471"/>
                    <a:pt x="85471" y="0"/>
                    <a:pt x="190754" y="0"/>
                  </a:cubicBezTo>
                  <a:lnTo>
                    <a:pt x="190754" y="38100"/>
                  </a:lnTo>
                  <a:lnTo>
                    <a:pt x="190754" y="0"/>
                  </a:lnTo>
                  <a:cubicBezTo>
                    <a:pt x="296164" y="0"/>
                    <a:pt x="381508" y="85471"/>
                    <a:pt x="381508" y="190754"/>
                  </a:cubicBezTo>
                  <a:cubicBezTo>
                    <a:pt x="381508" y="296037"/>
                    <a:pt x="296164" y="381635"/>
                    <a:pt x="190754" y="381635"/>
                  </a:cubicBezTo>
                  <a:lnTo>
                    <a:pt x="190754" y="343535"/>
                  </a:lnTo>
                  <a:lnTo>
                    <a:pt x="190754" y="381635"/>
                  </a:lnTo>
                  <a:cubicBezTo>
                    <a:pt x="85471" y="381635"/>
                    <a:pt x="0" y="296164"/>
                    <a:pt x="0" y="190754"/>
                  </a:cubicBezTo>
                  <a:lnTo>
                    <a:pt x="38100" y="190754"/>
                  </a:lnTo>
                  <a:lnTo>
                    <a:pt x="69850" y="211836"/>
                  </a:lnTo>
                  <a:cubicBezTo>
                    <a:pt x="60579" y="225806"/>
                    <a:pt x="43180" y="232029"/>
                    <a:pt x="27051" y="227203"/>
                  </a:cubicBezTo>
                  <a:cubicBezTo>
                    <a:pt x="10922" y="222377"/>
                    <a:pt x="0" y="207645"/>
                    <a:pt x="0" y="190754"/>
                  </a:cubicBezTo>
                  <a:moveTo>
                    <a:pt x="76200" y="190754"/>
                  </a:moveTo>
                  <a:lnTo>
                    <a:pt x="38100" y="190754"/>
                  </a:lnTo>
                  <a:lnTo>
                    <a:pt x="6350" y="169672"/>
                  </a:lnTo>
                  <a:cubicBezTo>
                    <a:pt x="15621" y="155702"/>
                    <a:pt x="33020" y="149479"/>
                    <a:pt x="49149" y="154305"/>
                  </a:cubicBezTo>
                  <a:cubicBezTo>
                    <a:pt x="65278" y="159131"/>
                    <a:pt x="76200" y="173990"/>
                    <a:pt x="76200" y="190754"/>
                  </a:cubicBezTo>
                  <a:cubicBezTo>
                    <a:pt x="76200" y="254000"/>
                    <a:pt x="127508" y="305308"/>
                    <a:pt x="190754" y="305308"/>
                  </a:cubicBezTo>
                  <a:cubicBezTo>
                    <a:pt x="254000" y="305308"/>
                    <a:pt x="305308" y="254000"/>
                    <a:pt x="305308" y="190754"/>
                  </a:cubicBezTo>
                  <a:lnTo>
                    <a:pt x="343408" y="190754"/>
                  </a:lnTo>
                  <a:lnTo>
                    <a:pt x="305308" y="190754"/>
                  </a:lnTo>
                  <a:cubicBezTo>
                    <a:pt x="305308" y="127508"/>
                    <a:pt x="254000" y="76200"/>
                    <a:pt x="190754" y="76200"/>
                  </a:cubicBezTo>
                  <a:lnTo>
                    <a:pt x="190754" y="38100"/>
                  </a:lnTo>
                  <a:lnTo>
                    <a:pt x="190754" y="76200"/>
                  </a:lnTo>
                  <a:cubicBezTo>
                    <a:pt x="127508" y="76200"/>
                    <a:pt x="76200" y="127508"/>
                    <a:pt x="76200" y="190754"/>
                  </a:cubicBezTo>
                  <a:close/>
                </a:path>
              </a:pathLst>
            </a:custGeom>
            <a:solidFill>
              <a:srgbClr val="005C99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25" name="Group 125"/>
          <p:cNvGrpSpPr/>
          <p:nvPr/>
        </p:nvGrpSpPr>
        <p:grpSpPr>
          <a:xfrm>
            <a:off x="527837" y="5888889"/>
            <a:ext cx="286207" cy="286207"/>
            <a:chOff x="0" y="0"/>
            <a:chExt cx="381610" cy="381610"/>
          </a:xfrm>
        </p:grpSpPr>
        <p:sp>
          <p:nvSpPr>
            <p:cNvPr id="126" name="Freeform 126"/>
            <p:cNvSpPr/>
            <p:nvPr/>
          </p:nvSpPr>
          <p:spPr>
            <a:xfrm>
              <a:off x="38100" y="38100"/>
              <a:ext cx="305435" cy="305435"/>
            </a:xfrm>
            <a:custGeom>
              <a:avLst/>
              <a:gdLst/>
              <a:ahLst/>
              <a:cxnLst/>
              <a:rect l="l" t="t" r="r" b="b"/>
              <a:pathLst>
                <a:path w="305435" h="305435">
                  <a:moveTo>
                    <a:pt x="0" y="152654"/>
                  </a:moveTo>
                  <a:cubicBezTo>
                    <a:pt x="0" y="68326"/>
                    <a:pt x="68326" y="0"/>
                    <a:pt x="152654" y="0"/>
                  </a:cubicBezTo>
                  <a:cubicBezTo>
                    <a:pt x="236982" y="0"/>
                    <a:pt x="305435" y="68326"/>
                    <a:pt x="305435" y="152654"/>
                  </a:cubicBezTo>
                  <a:cubicBezTo>
                    <a:pt x="305435" y="236982"/>
                    <a:pt x="236982" y="305435"/>
                    <a:pt x="152654" y="305435"/>
                  </a:cubicBezTo>
                  <a:cubicBezTo>
                    <a:pt x="68326" y="305435"/>
                    <a:pt x="0" y="236982"/>
                    <a:pt x="0" y="152654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27" name="Freeform 127"/>
            <p:cNvSpPr/>
            <p:nvPr/>
          </p:nvSpPr>
          <p:spPr>
            <a:xfrm>
              <a:off x="0" y="0"/>
              <a:ext cx="381508" cy="381635"/>
            </a:xfrm>
            <a:custGeom>
              <a:avLst/>
              <a:gdLst/>
              <a:ahLst/>
              <a:cxnLst/>
              <a:rect l="l" t="t" r="r" b="b"/>
              <a:pathLst>
                <a:path w="381508" h="381635">
                  <a:moveTo>
                    <a:pt x="0" y="190754"/>
                  </a:moveTo>
                  <a:cubicBezTo>
                    <a:pt x="0" y="85471"/>
                    <a:pt x="85471" y="0"/>
                    <a:pt x="190754" y="0"/>
                  </a:cubicBezTo>
                  <a:lnTo>
                    <a:pt x="190754" y="38100"/>
                  </a:lnTo>
                  <a:lnTo>
                    <a:pt x="190754" y="0"/>
                  </a:lnTo>
                  <a:cubicBezTo>
                    <a:pt x="296164" y="0"/>
                    <a:pt x="381508" y="85471"/>
                    <a:pt x="381508" y="190754"/>
                  </a:cubicBezTo>
                  <a:cubicBezTo>
                    <a:pt x="381508" y="296037"/>
                    <a:pt x="296164" y="381635"/>
                    <a:pt x="190754" y="381635"/>
                  </a:cubicBezTo>
                  <a:lnTo>
                    <a:pt x="190754" y="343535"/>
                  </a:lnTo>
                  <a:lnTo>
                    <a:pt x="190754" y="381635"/>
                  </a:lnTo>
                  <a:cubicBezTo>
                    <a:pt x="85471" y="381635"/>
                    <a:pt x="0" y="296164"/>
                    <a:pt x="0" y="190754"/>
                  </a:cubicBezTo>
                  <a:lnTo>
                    <a:pt x="38100" y="190754"/>
                  </a:lnTo>
                  <a:lnTo>
                    <a:pt x="69850" y="211836"/>
                  </a:lnTo>
                  <a:cubicBezTo>
                    <a:pt x="60579" y="225806"/>
                    <a:pt x="43180" y="232029"/>
                    <a:pt x="27051" y="227203"/>
                  </a:cubicBezTo>
                  <a:cubicBezTo>
                    <a:pt x="10922" y="222377"/>
                    <a:pt x="0" y="207645"/>
                    <a:pt x="0" y="190754"/>
                  </a:cubicBezTo>
                  <a:moveTo>
                    <a:pt x="76200" y="190754"/>
                  </a:moveTo>
                  <a:lnTo>
                    <a:pt x="38100" y="190754"/>
                  </a:lnTo>
                  <a:lnTo>
                    <a:pt x="6350" y="169672"/>
                  </a:lnTo>
                  <a:cubicBezTo>
                    <a:pt x="15621" y="155702"/>
                    <a:pt x="33020" y="149479"/>
                    <a:pt x="49149" y="154305"/>
                  </a:cubicBezTo>
                  <a:cubicBezTo>
                    <a:pt x="65278" y="159131"/>
                    <a:pt x="76200" y="173990"/>
                    <a:pt x="76200" y="190754"/>
                  </a:cubicBezTo>
                  <a:cubicBezTo>
                    <a:pt x="76200" y="254000"/>
                    <a:pt x="127508" y="305308"/>
                    <a:pt x="190754" y="305308"/>
                  </a:cubicBezTo>
                  <a:cubicBezTo>
                    <a:pt x="254000" y="305308"/>
                    <a:pt x="305308" y="254000"/>
                    <a:pt x="305308" y="190754"/>
                  </a:cubicBezTo>
                  <a:lnTo>
                    <a:pt x="343408" y="190754"/>
                  </a:lnTo>
                  <a:lnTo>
                    <a:pt x="305308" y="190754"/>
                  </a:lnTo>
                  <a:cubicBezTo>
                    <a:pt x="305308" y="127508"/>
                    <a:pt x="254000" y="76200"/>
                    <a:pt x="190754" y="76200"/>
                  </a:cubicBezTo>
                  <a:lnTo>
                    <a:pt x="190754" y="38100"/>
                  </a:lnTo>
                  <a:lnTo>
                    <a:pt x="190754" y="76200"/>
                  </a:lnTo>
                  <a:cubicBezTo>
                    <a:pt x="127508" y="76200"/>
                    <a:pt x="76200" y="127508"/>
                    <a:pt x="76200" y="190754"/>
                  </a:cubicBezTo>
                  <a:close/>
                </a:path>
              </a:pathLst>
            </a:custGeom>
            <a:solidFill>
              <a:srgbClr val="005C99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28" name="Group 128"/>
          <p:cNvGrpSpPr/>
          <p:nvPr/>
        </p:nvGrpSpPr>
        <p:grpSpPr>
          <a:xfrm>
            <a:off x="-9525" y="1090498"/>
            <a:ext cx="18306593" cy="61570"/>
            <a:chOff x="0" y="0"/>
            <a:chExt cx="24408790" cy="82093"/>
          </a:xfrm>
        </p:grpSpPr>
        <p:sp>
          <p:nvSpPr>
            <p:cNvPr id="129" name="Freeform 129"/>
            <p:cNvSpPr/>
            <p:nvPr/>
          </p:nvSpPr>
          <p:spPr>
            <a:xfrm>
              <a:off x="12700" y="12700"/>
              <a:ext cx="24383364" cy="56642"/>
            </a:xfrm>
            <a:custGeom>
              <a:avLst/>
              <a:gdLst/>
              <a:ahLst/>
              <a:cxnLst/>
              <a:rect l="l" t="t" r="r" b="b"/>
              <a:pathLst>
                <a:path w="24383364" h="56642">
                  <a:moveTo>
                    <a:pt x="0" y="0"/>
                  </a:moveTo>
                  <a:lnTo>
                    <a:pt x="24383364" y="0"/>
                  </a:lnTo>
                  <a:lnTo>
                    <a:pt x="24383364" y="56642"/>
                  </a:lnTo>
                  <a:lnTo>
                    <a:pt x="0" y="56642"/>
                  </a:lnTo>
                  <a:close/>
                </a:path>
              </a:pathLst>
            </a:custGeom>
            <a:solidFill>
              <a:srgbClr val="002B49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30" name="Group 130"/>
          <p:cNvGrpSpPr/>
          <p:nvPr/>
        </p:nvGrpSpPr>
        <p:grpSpPr>
          <a:xfrm>
            <a:off x="714604" y="0"/>
            <a:ext cx="8675370" cy="685800"/>
            <a:chOff x="0" y="0"/>
            <a:chExt cx="11567160" cy="914400"/>
          </a:xfrm>
        </p:grpSpPr>
        <p:sp>
          <p:nvSpPr>
            <p:cNvPr id="131" name="Freeform 131"/>
            <p:cNvSpPr/>
            <p:nvPr/>
          </p:nvSpPr>
          <p:spPr>
            <a:xfrm>
              <a:off x="0" y="0"/>
              <a:ext cx="11567160" cy="914400"/>
            </a:xfrm>
            <a:custGeom>
              <a:avLst/>
              <a:gdLst/>
              <a:ahLst/>
              <a:cxnLst/>
              <a:rect l="l" t="t" r="r" b="b"/>
              <a:pathLst>
                <a:path w="11567160" h="914400">
                  <a:moveTo>
                    <a:pt x="0" y="0"/>
                  </a:moveTo>
                  <a:lnTo>
                    <a:pt x="11567160" y="0"/>
                  </a:lnTo>
                  <a:lnTo>
                    <a:pt x="115671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6485" b="-196485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132" name="TextBox 132"/>
            <p:cNvSpPr txBox="1"/>
            <p:nvPr/>
          </p:nvSpPr>
          <p:spPr>
            <a:xfrm>
              <a:off x="0" y="0"/>
              <a:ext cx="1156716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20"/>
                </a:lnSpc>
              </a:pPr>
              <a:r>
                <a:rPr lang="en-US" sz="3600" b="1">
                  <a:solidFill>
                    <a:srgbClr val="002B4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Próximos Passos e Compromissos</a:t>
              </a:r>
            </a:p>
          </p:txBody>
        </p:sp>
      </p:grpSp>
      <p:grpSp>
        <p:nvGrpSpPr>
          <p:cNvPr id="133" name="Group 133"/>
          <p:cNvGrpSpPr/>
          <p:nvPr/>
        </p:nvGrpSpPr>
        <p:grpSpPr>
          <a:xfrm>
            <a:off x="603504" y="593903"/>
            <a:ext cx="8302295" cy="342900"/>
            <a:chOff x="0" y="0"/>
            <a:chExt cx="11069726" cy="457200"/>
          </a:xfrm>
        </p:grpSpPr>
        <p:sp>
          <p:nvSpPr>
            <p:cNvPr id="134" name="Freeform 134"/>
            <p:cNvSpPr/>
            <p:nvPr/>
          </p:nvSpPr>
          <p:spPr>
            <a:xfrm>
              <a:off x="0" y="0"/>
              <a:ext cx="11069726" cy="457200"/>
            </a:xfrm>
            <a:custGeom>
              <a:avLst/>
              <a:gdLst/>
              <a:ahLst/>
              <a:cxnLst/>
              <a:rect l="l" t="t" r="r" b="b"/>
              <a:pathLst>
                <a:path w="11069726" h="457200">
                  <a:moveTo>
                    <a:pt x="0" y="0"/>
                  </a:moveTo>
                  <a:lnTo>
                    <a:pt x="11069726" y="0"/>
                  </a:lnTo>
                  <a:lnTo>
                    <a:pt x="11069726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21771" b="-421771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135" name="TextBox 135"/>
            <p:cNvSpPr txBox="1"/>
            <p:nvPr/>
          </p:nvSpPr>
          <p:spPr>
            <a:xfrm>
              <a:off x="0" y="0"/>
              <a:ext cx="11069726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spc="112">
                  <a:solidFill>
                    <a:srgbClr val="55555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Cronograma, Ações e Recursos para o Próximo Ciclo</a:t>
              </a:r>
            </a:p>
          </p:txBody>
        </p:sp>
      </p:grpSp>
      <p:sp>
        <p:nvSpPr>
          <p:cNvPr id="136" name="Freeform 136"/>
          <p:cNvSpPr/>
          <p:nvPr/>
        </p:nvSpPr>
        <p:spPr>
          <a:xfrm>
            <a:off x="14883232" y="366964"/>
            <a:ext cx="3083905" cy="513984"/>
          </a:xfrm>
          <a:custGeom>
            <a:avLst/>
            <a:gdLst/>
            <a:ahLst/>
            <a:cxnLst/>
            <a:rect l="l" t="t" r="r" b="b"/>
            <a:pathLst>
              <a:path w="3083905" h="513984">
                <a:moveTo>
                  <a:pt x="0" y="0"/>
                </a:moveTo>
                <a:lnTo>
                  <a:pt x="3083905" y="0"/>
                </a:lnTo>
                <a:lnTo>
                  <a:pt x="3083905" y="513984"/>
                </a:lnTo>
                <a:lnTo>
                  <a:pt x="0" y="51398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140" name="Group 47">
            <a:extLst>
              <a:ext uri="{FF2B5EF4-FFF2-40B4-BE49-F238E27FC236}">
                <a16:creationId xmlns:a16="http://schemas.microsoft.com/office/drawing/2014/main" id="{8229857A-D4DD-8BDD-4B0A-0A505182291E}"/>
              </a:ext>
            </a:extLst>
          </p:cNvPr>
          <p:cNvGrpSpPr/>
          <p:nvPr/>
        </p:nvGrpSpPr>
        <p:grpSpPr>
          <a:xfrm>
            <a:off x="12344400" y="1257300"/>
            <a:ext cx="5410200" cy="6191250"/>
            <a:chOff x="0" y="0"/>
            <a:chExt cx="9359595" cy="8255000"/>
          </a:xfrm>
        </p:grpSpPr>
        <p:sp>
          <p:nvSpPr>
            <p:cNvPr id="141" name="Freeform 48">
              <a:extLst>
                <a:ext uri="{FF2B5EF4-FFF2-40B4-BE49-F238E27FC236}">
                  <a16:creationId xmlns:a16="http://schemas.microsoft.com/office/drawing/2014/main" id="{240DFCC0-02BE-5252-C841-575093BD7A4D}"/>
                </a:ext>
              </a:extLst>
            </p:cNvPr>
            <p:cNvSpPr/>
            <p:nvPr/>
          </p:nvSpPr>
          <p:spPr>
            <a:xfrm>
              <a:off x="12700" y="12700"/>
              <a:ext cx="9334246" cy="8229600"/>
            </a:xfrm>
            <a:custGeom>
              <a:avLst/>
              <a:gdLst/>
              <a:ahLst/>
              <a:cxnLst/>
              <a:rect l="l" t="t" r="r" b="b"/>
              <a:pathLst>
                <a:path w="9334246" h="8229600">
                  <a:moveTo>
                    <a:pt x="0" y="101600"/>
                  </a:moveTo>
                  <a:cubicBezTo>
                    <a:pt x="0" y="45466"/>
                    <a:pt x="45466" y="0"/>
                    <a:pt x="101727" y="0"/>
                  </a:cubicBezTo>
                  <a:lnTo>
                    <a:pt x="9232519" y="0"/>
                  </a:lnTo>
                  <a:cubicBezTo>
                    <a:pt x="9288652" y="0"/>
                    <a:pt x="9334246" y="45466"/>
                    <a:pt x="9334246" y="101600"/>
                  </a:cubicBezTo>
                  <a:lnTo>
                    <a:pt x="9334246" y="8128000"/>
                  </a:lnTo>
                  <a:cubicBezTo>
                    <a:pt x="9334246" y="8184134"/>
                    <a:pt x="9288780" y="8229600"/>
                    <a:pt x="9232519" y="8229600"/>
                  </a:cubicBezTo>
                  <a:lnTo>
                    <a:pt x="101727" y="8229600"/>
                  </a:lnTo>
                  <a:cubicBezTo>
                    <a:pt x="45466" y="8229600"/>
                    <a:pt x="0" y="8184134"/>
                    <a:pt x="0" y="8128000"/>
                  </a:cubicBezTo>
                  <a:close/>
                </a:path>
              </a:pathLst>
            </a:custGeom>
            <a:solidFill>
              <a:schemeClr val="bg1"/>
            </a:solidFill>
          </p:spPr>
          <p:txBody>
            <a:bodyPr/>
            <a:lstStyle/>
            <a:p>
              <a:endParaRPr lang="pt-BR" dirty="0"/>
            </a:p>
          </p:txBody>
        </p:sp>
      </p:grpSp>
      <p:grpSp>
        <p:nvGrpSpPr>
          <p:cNvPr id="142" name="Group 49">
            <a:extLst>
              <a:ext uri="{FF2B5EF4-FFF2-40B4-BE49-F238E27FC236}">
                <a16:creationId xmlns:a16="http://schemas.microsoft.com/office/drawing/2014/main" id="{A911DAE3-F76F-7789-68E7-EA65D6E5DA6B}"/>
              </a:ext>
            </a:extLst>
          </p:cNvPr>
          <p:cNvGrpSpPr/>
          <p:nvPr/>
        </p:nvGrpSpPr>
        <p:grpSpPr>
          <a:xfrm>
            <a:off x="12747651" y="2185644"/>
            <a:ext cx="5311750" cy="138455"/>
            <a:chOff x="0" y="0"/>
            <a:chExt cx="8406790" cy="43688"/>
          </a:xfrm>
        </p:grpSpPr>
        <p:sp>
          <p:nvSpPr>
            <p:cNvPr id="143" name="Freeform 50">
              <a:extLst>
                <a:ext uri="{FF2B5EF4-FFF2-40B4-BE49-F238E27FC236}">
                  <a16:creationId xmlns:a16="http://schemas.microsoft.com/office/drawing/2014/main" id="{7ED55C44-8393-99AB-D74F-B663DC5CA2A6}"/>
                </a:ext>
              </a:extLst>
            </p:cNvPr>
            <p:cNvSpPr/>
            <p:nvPr/>
          </p:nvSpPr>
          <p:spPr>
            <a:xfrm>
              <a:off x="12700" y="12700"/>
              <a:ext cx="8381365" cy="18288"/>
            </a:xfrm>
            <a:custGeom>
              <a:avLst/>
              <a:gdLst/>
              <a:ahLst/>
              <a:cxnLst/>
              <a:rect l="l" t="t" r="r" b="b"/>
              <a:pathLst>
                <a:path w="8381365" h="18288">
                  <a:moveTo>
                    <a:pt x="0" y="0"/>
                  </a:moveTo>
                  <a:lnTo>
                    <a:pt x="8381365" y="0"/>
                  </a:lnTo>
                  <a:lnTo>
                    <a:pt x="8381365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44" name="Group 51">
            <a:extLst>
              <a:ext uri="{FF2B5EF4-FFF2-40B4-BE49-F238E27FC236}">
                <a16:creationId xmlns:a16="http://schemas.microsoft.com/office/drawing/2014/main" id="{3027EE60-DAB7-31A3-F8BB-6A962EC3B2F3}"/>
              </a:ext>
            </a:extLst>
          </p:cNvPr>
          <p:cNvGrpSpPr/>
          <p:nvPr/>
        </p:nvGrpSpPr>
        <p:grpSpPr>
          <a:xfrm>
            <a:off x="13015036" y="1594409"/>
            <a:ext cx="6143396" cy="386791"/>
            <a:chOff x="0" y="0"/>
            <a:chExt cx="8191195" cy="515722"/>
          </a:xfrm>
        </p:grpSpPr>
        <p:sp>
          <p:nvSpPr>
            <p:cNvPr id="145" name="Freeform 52">
              <a:extLst>
                <a:ext uri="{FF2B5EF4-FFF2-40B4-BE49-F238E27FC236}">
                  <a16:creationId xmlns:a16="http://schemas.microsoft.com/office/drawing/2014/main" id="{EACBD865-629A-9792-87E6-9183A6B35B15}"/>
                </a:ext>
              </a:extLst>
            </p:cNvPr>
            <p:cNvSpPr/>
            <p:nvPr/>
          </p:nvSpPr>
          <p:spPr>
            <a:xfrm>
              <a:off x="0" y="0"/>
              <a:ext cx="8191196" cy="515722"/>
            </a:xfrm>
            <a:custGeom>
              <a:avLst/>
              <a:gdLst/>
              <a:ahLst/>
              <a:cxnLst/>
              <a:rect l="l" t="t" r="r" b="b"/>
              <a:pathLst>
                <a:path w="8191196" h="515722">
                  <a:moveTo>
                    <a:pt x="0" y="0"/>
                  </a:moveTo>
                  <a:lnTo>
                    <a:pt x="8191196" y="0"/>
                  </a:lnTo>
                  <a:lnTo>
                    <a:pt x="8191196" y="515722"/>
                  </a:lnTo>
                  <a:lnTo>
                    <a:pt x="0" y="51572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9480" b="-259480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146" name="TextBox 53">
              <a:extLst>
                <a:ext uri="{FF2B5EF4-FFF2-40B4-BE49-F238E27FC236}">
                  <a16:creationId xmlns:a16="http://schemas.microsoft.com/office/drawing/2014/main" id="{CEAF65B6-A87B-F281-24C2-D9E1C0CB3AD9}"/>
                </a:ext>
              </a:extLst>
            </p:cNvPr>
            <p:cNvSpPr txBox="1"/>
            <p:nvPr/>
          </p:nvSpPr>
          <p:spPr>
            <a:xfrm>
              <a:off x="0" y="-9525"/>
              <a:ext cx="8191195" cy="5252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 dirty="0">
                  <a:solidFill>
                    <a:srgbClr val="002B4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 Overview Departamento</a:t>
              </a:r>
            </a:p>
          </p:txBody>
        </p:sp>
      </p:grpSp>
      <p:grpSp>
        <p:nvGrpSpPr>
          <p:cNvPr id="147" name="Group 54">
            <a:extLst>
              <a:ext uri="{FF2B5EF4-FFF2-40B4-BE49-F238E27FC236}">
                <a16:creationId xmlns:a16="http://schemas.microsoft.com/office/drawing/2014/main" id="{0D0F8D07-829C-1BDB-FF2E-90DDA739E9FD}"/>
              </a:ext>
            </a:extLst>
          </p:cNvPr>
          <p:cNvGrpSpPr/>
          <p:nvPr/>
        </p:nvGrpSpPr>
        <p:grpSpPr>
          <a:xfrm>
            <a:off x="12725399" y="752028"/>
            <a:ext cx="257842" cy="257842"/>
            <a:chOff x="753205" y="-1228496"/>
            <a:chExt cx="343789" cy="343789"/>
          </a:xfrm>
        </p:grpSpPr>
        <p:sp>
          <p:nvSpPr>
            <p:cNvPr id="148" name="Freeform 55" descr="preencoded.png">
              <a:extLst>
                <a:ext uri="{FF2B5EF4-FFF2-40B4-BE49-F238E27FC236}">
                  <a16:creationId xmlns:a16="http://schemas.microsoft.com/office/drawing/2014/main" id="{DF4891A2-D50E-9B25-32FF-7CA6AB84176F}"/>
                </a:ext>
              </a:extLst>
            </p:cNvPr>
            <p:cNvSpPr/>
            <p:nvPr/>
          </p:nvSpPr>
          <p:spPr>
            <a:xfrm>
              <a:off x="753205" y="-1228496"/>
              <a:ext cx="343789" cy="343789"/>
            </a:xfrm>
            <a:custGeom>
              <a:avLst/>
              <a:gdLst/>
              <a:ahLst/>
              <a:cxnLst/>
              <a:rect l="l" t="t" r="r" b="b"/>
              <a:pathLst>
                <a:path w="343789" h="343789">
                  <a:moveTo>
                    <a:pt x="0" y="0"/>
                  </a:moveTo>
                  <a:lnTo>
                    <a:pt x="343789" y="0"/>
                  </a:lnTo>
                  <a:lnTo>
                    <a:pt x="343789" y="343789"/>
                  </a:lnTo>
                  <a:lnTo>
                    <a:pt x="0" y="3437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7" b="-7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49" name="Group 56">
            <a:extLst>
              <a:ext uri="{FF2B5EF4-FFF2-40B4-BE49-F238E27FC236}">
                <a16:creationId xmlns:a16="http://schemas.microsoft.com/office/drawing/2014/main" id="{E6E8A534-2829-BD63-2235-7AE60B45E5CE}"/>
              </a:ext>
            </a:extLst>
          </p:cNvPr>
          <p:cNvGrpSpPr/>
          <p:nvPr/>
        </p:nvGrpSpPr>
        <p:grpSpPr>
          <a:xfrm>
            <a:off x="12757175" y="2495550"/>
            <a:ext cx="4921225" cy="928573"/>
            <a:chOff x="0" y="0"/>
            <a:chExt cx="8381390" cy="1238098"/>
          </a:xfrm>
        </p:grpSpPr>
        <p:sp>
          <p:nvSpPr>
            <p:cNvPr id="150" name="Freeform 57">
              <a:extLst>
                <a:ext uri="{FF2B5EF4-FFF2-40B4-BE49-F238E27FC236}">
                  <a16:creationId xmlns:a16="http://schemas.microsoft.com/office/drawing/2014/main" id="{FAE4B3ED-5C4C-7E71-3659-426E9605DB22}"/>
                </a:ext>
              </a:extLst>
            </p:cNvPr>
            <p:cNvSpPr/>
            <p:nvPr/>
          </p:nvSpPr>
          <p:spPr>
            <a:xfrm>
              <a:off x="0" y="0"/>
              <a:ext cx="8381492" cy="1238250"/>
            </a:xfrm>
            <a:custGeom>
              <a:avLst/>
              <a:gdLst/>
              <a:ahLst/>
              <a:cxnLst/>
              <a:rect l="l" t="t" r="r" b="b"/>
              <a:pathLst>
                <a:path w="8381492" h="1238250">
                  <a:moveTo>
                    <a:pt x="0" y="450215"/>
                  </a:moveTo>
                  <a:cubicBezTo>
                    <a:pt x="0" y="201549"/>
                    <a:pt x="201549" y="0"/>
                    <a:pt x="450215" y="0"/>
                  </a:cubicBezTo>
                  <a:lnTo>
                    <a:pt x="7931277" y="0"/>
                  </a:lnTo>
                  <a:cubicBezTo>
                    <a:pt x="8179943" y="0"/>
                    <a:pt x="8381492" y="201549"/>
                    <a:pt x="8381492" y="450215"/>
                  </a:cubicBezTo>
                  <a:lnTo>
                    <a:pt x="8381492" y="788035"/>
                  </a:lnTo>
                  <a:cubicBezTo>
                    <a:pt x="8381492" y="1036701"/>
                    <a:pt x="8179943" y="1238250"/>
                    <a:pt x="7931277" y="1238250"/>
                  </a:cubicBezTo>
                  <a:lnTo>
                    <a:pt x="450215" y="1238250"/>
                  </a:lnTo>
                  <a:cubicBezTo>
                    <a:pt x="201549" y="1238123"/>
                    <a:pt x="0" y="1036574"/>
                    <a:pt x="0" y="787908"/>
                  </a:cubicBezTo>
                  <a:close/>
                </a:path>
              </a:pathLst>
            </a:custGeom>
            <a:solidFill>
              <a:srgbClr val="FEF2F2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51" name="Group 58">
            <a:extLst>
              <a:ext uri="{FF2B5EF4-FFF2-40B4-BE49-F238E27FC236}">
                <a16:creationId xmlns:a16="http://schemas.microsoft.com/office/drawing/2014/main" id="{41571DDA-F48C-B825-A055-F80334FA7D24}"/>
              </a:ext>
            </a:extLst>
          </p:cNvPr>
          <p:cNvGrpSpPr/>
          <p:nvPr/>
        </p:nvGrpSpPr>
        <p:grpSpPr>
          <a:xfrm>
            <a:off x="12150970" y="2500552"/>
            <a:ext cx="76657" cy="947623"/>
            <a:chOff x="0" y="0"/>
            <a:chExt cx="102210" cy="1263498"/>
          </a:xfrm>
        </p:grpSpPr>
        <p:sp>
          <p:nvSpPr>
            <p:cNvPr id="152" name="Freeform 59">
              <a:extLst>
                <a:ext uri="{FF2B5EF4-FFF2-40B4-BE49-F238E27FC236}">
                  <a16:creationId xmlns:a16="http://schemas.microsoft.com/office/drawing/2014/main" id="{CEEE1D82-F7EC-BD2E-2B04-0841FEA11638}"/>
                </a:ext>
              </a:extLst>
            </p:cNvPr>
            <p:cNvSpPr/>
            <p:nvPr/>
          </p:nvSpPr>
          <p:spPr>
            <a:xfrm>
              <a:off x="12700" y="12700"/>
              <a:ext cx="76835" cy="1237996"/>
            </a:xfrm>
            <a:custGeom>
              <a:avLst/>
              <a:gdLst/>
              <a:ahLst/>
              <a:cxnLst/>
              <a:rect l="l" t="t" r="r" b="b"/>
              <a:pathLst>
                <a:path w="76835" h="1237996">
                  <a:moveTo>
                    <a:pt x="0" y="50038"/>
                  </a:moveTo>
                  <a:cubicBezTo>
                    <a:pt x="0" y="22479"/>
                    <a:pt x="17145" y="0"/>
                    <a:pt x="38354" y="0"/>
                  </a:cubicBezTo>
                  <a:cubicBezTo>
                    <a:pt x="59563" y="0"/>
                    <a:pt x="76835" y="22479"/>
                    <a:pt x="76835" y="50038"/>
                  </a:cubicBezTo>
                  <a:lnTo>
                    <a:pt x="76835" y="1187958"/>
                  </a:lnTo>
                  <a:cubicBezTo>
                    <a:pt x="76835" y="1215644"/>
                    <a:pt x="59690" y="1237996"/>
                    <a:pt x="38481" y="1237996"/>
                  </a:cubicBezTo>
                  <a:cubicBezTo>
                    <a:pt x="17272" y="1237996"/>
                    <a:pt x="0" y="1215644"/>
                    <a:pt x="0" y="1187958"/>
                  </a:cubicBezTo>
                  <a:close/>
                </a:path>
              </a:pathLst>
            </a:custGeom>
            <a:solidFill>
              <a:srgbClr val="EF4444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53" name="Group 60">
            <a:extLst>
              <a:ext uri="{FF2B5EF4-FFF2-40B4-BE49-F238E27FC236}">
                <a16:creationId xmlns:a16="http://schemas.microsoft.com/office/drawing/2014/main" id="{7D63E180-5FC2-0D31-7E5C-62B60C0FD7C6}"/>
              </a:ext>
            </a:extLst>
          </p:cNvPr>
          <p:cNvGrpSpPr/>
          <p:nvPr/>
        </p:nvGrpSpPr>
        <p:grpSpPr>
          <a:xfrm>
            <a:off x="12432072" y="2855720"/>
            <a:ext cx="229057" cy="229057"/>
            <a:chOff x="0" y="0"/>
            <a:chExt cx="305410" cy="305410"/>
          </a:xfrm>
        </p:grpSpPr>
        <p:sp>
          <p:nvSpPr>
            <p:cNvPr id="154" name="Freeform 61" descr="preencoded.png">
              <a:extLst>
                <a:ext uri="{FF2B5EF4-FFF2-40B4-BE49-F238E27FC236}">
                  <a16:creationId xmlns:a16="http://schemas.microsoft.com/office/drawing/2014/main" id="{8E7E77B2-03FB-DDCB-EA50-5B2A91B6C8A6}"/>
                </a:ext>
              </a:extLst>
            </p:cNvPr>
            <p:cNvSpPr/>
            <p:nvPr/>
          </p:nvSpPr>
          <p:spPr>
            <a:xfrm>
              <a:off x="0" y="0"/>
              <a:ext cx="305435" cy="305435"/>
            </a:xfrm>
            <a:custGeom>
              <a:avLst/>
              <a:gdLst/>
              <a:ahLst/>
              <a:cxnLst/>
              <a:rect l="l" t="t" r="r" b="b"/>
              <a:pathLst>
                <a:path w="305435" h="305435">
                  <a:moveTo>
                    <a:pt x="0" y="0"/>
                  </a:moveTo>
                  <a:lnTo>
                    <a:pt x="305435" y="0"/>
                  </a:lnTo>
                  <a:lnTo>
                    <a:pt x="305435" y="305435"/>
                  </a:lnTo>
                  <a:lnTo>
                    <a:pt x="0" y="3054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8" b="8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55" name="Group 62">
            <a:extLst>
              <a:ext uri="{FF2B5EF4-FFF2-40B4-BE49-F238E27FC236}">
                <a16:creationId xmlns:a16="http://schemas.microsoft.com/office/drawing/2014/main" id="{ACE2EEED-0B62-85ED-20D3-B5C01EE1A3EF}"/>
              </a:ext>
            </a:extLst>
          </p:cNvPr>
          <p:cNvGrpSpPr/>
          <p:nvPr/>
        </p:nvGrpSpPr>
        <p:grpSpPr>
          <a:xfrm>
            <a:off x="12875099" y="2724047"/>
            <a:ext cx="3264408" cy="271577"/>
            <a:chOff x="0" y="0"/>
            <a:chExt cx="4352544" cy="362102"/>
          </a:xfrm>
        </p:grpSpPr>
        <p:sp>
          <p:nvSpPr>
            <p:cNvPr id="156" name="Freeform 63">
              <a:extLst>
                <a:ext uri="{FF2B5EF4-FFF2-40B4-BE49-F238E27FC236}">
                  <a16:creationId xmlns:a16="http://schemas.microsoft.com/office/drawing/2014/main" id="{C0ED11CE-87B3-E535-8EB1-A56914C9DED8}"/>
                </a:ext>
              </a:extLst>
            </p:cNvPr>
            <p:cNvSpPr/>
            <p:nvPr/>
          </p:nvSpPr>
          <p:spPr>
            <a:xfrm>
              <a:off x="0" y="0"/>
              <a:ext cx="4352544" cy="362102"/>
            </a:xfrm>
            <a:custGeom>
              <a:avLst/>
              <a:gdLst/>
              <a:ahLst/>
              <a:cxnLst/>
              <a:rect l="l" t="t" r="r" b="b"/>
              <a:pathLst>
                <a:path w="4352544" h="362102">
                  <a:moveTo>
                    <a:pt x="0" y="0"/>
                  </a:moveTo>
                  <a:lnTo>
                    <a:pt x="4352544" y="0"/>
                  </a:lnTo>
                  <a:lnTo>
                    <a:pt x="4352544" y="362102"/>
                  </a:lnTo>
                  <a:lnTo>
                    <a:pt x="0" y="3621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4214" b="-184214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157" name="TextBox 64">
              <a:extLst>
                <a:ext uri="{FF2B5EF4-FFF2-40B4-BE49-F238E27FC236}">
                  <a16:creationId xmlns:a16="http://schemas.microsoft.com/office/drawing/2014/main" id="{EEAD0439-F37A-4AFD-B7BB-56DABC01B6D6}"/>
                </a:ext>
              </a:extLst>
            </p:cNvPr>
            <p:cNvSpPr txBox="1"/>
            <p:nvPr/>
          </p:nvSpPr>
          <p:spPr>
            <a:xfrm>
              <a:off x="0" y="0"/>
              <a:ext cx="4352544" cy="36210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 dirty="0" err="1">
                  <a:solidFill>
                    <a:srgbClr val="334155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Destaques</a:t>
              </a:r>
              <a:r>
                <a:rPr lang="en-US" sz="1500" b="1" dirty="0">
                  <a:solidFill>
                    <a:srgbClr val="334155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 da ultima </a:t>
              </a:r>
              <a:r>
                <a:rPr lang="en-US" sz="1500" b="1" dirty="0" err="1">
                  <a:solidFill>
                    <a:srgbClr val="334155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semana</a:t>
              </a:r>
              <a:endParaRPr lang="en-US" sz="1500" b="1" dirty="0">
                <a:solidFill>
                  <a:srgbClr val="334155"/>
                </a:solidFill>
                <a:latin typeface="Open Sans Bold"/>
                <a:ea typeface="Open Sans Bold"/>
                <a:cs typeface="Open Sans Bold"/>
                <a:sym typeface="Open Sans Bold"/>
              </a:endParaRPr>
            </a:p>
          </p:txBody>
        </p:sp>
      </p:grpSp>
      <p:grpSp>
        <p:nvGrpSpPr>
          <p:cNvPr id="158" name="Group 65">
            <a:extLst>
              <a:ext uri="{FF2B5EF4-FFF2-40B4-BE49-F238E27FC236}">
                <a16:creationId xmlns:a16="http://schemas.microsoft.com/office/drawing/2014/main" id="{AC2FB478-731F-7ACE-E2D1-D427A015D586}"/>
              </a:ext>
            </a:extLst>
          </p:cNvPr>
          <p:cNvGrpSpPr/>
          <p:nvPr/>
        </p:nvGrpSpPr>
        <p:grpSpPr>
          <a:xfrm>
            <a:off x="12875097" y="3024427"/>
            <a:ext cx="5092039" cy="513984"/>
            <a:chOff x="0" y="0"/>
            <a:chExt cx="5305349" cy="325526"/>
          </a:xfrm>
        </p:grpSpPr>
        <p:sp>
          <p:nvSpPr>
            <p:cNvPr id="159" name="Freeform 66">
              <a:extLst>
                <a:ext uri="{FF2B5EF4-FFF2-40B4-BE49-F238E27FC236}">
                  <a16:creationId xmlns:a16="http://schemas.microsoft.com/office/drawing/2014/main" id="{5B6A4D6B-F618-2933-98AD-D38D7A74B9F4}"/>
                </a:ext>
              </a:extLst>
            </p:cNvPr>
            <p:cNvSpPr/>
            <p:nvPr/>
          </p:nvSpPr>
          <p:spPr>
            <a:xfrm>
              <a:off x="0" y="0"/>
              <a:ext cx="5305348" cy="325526"/>
            </a:xfrm>
            <a:custGeom>
              <a:avLst/>
              <a:gdLst/>
              <a:ahLst/>
              <a:cxnLst/>
              <a:rect l="l" t="t" r="r" b="b"/>
              <a:pathLst>
                <a:path w="5305348" h="325526">
                  <a:moveTo>
                    <a:pt x="0" y="0"/>
                  </a:moveTo>
                  <a:lnTo>
                    <a:pt x="5305348" y="0"/>
                  </a:lnTo>
                  <a:lnTo>
                    <a:pt x="5305348" y="325526"/>
                  </a:lnTo>
                  <a:lnTo>
                    <a:pt x="0" y="3255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7562" b="-267562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160" name="TextBox 67">
              <a:extLst>
                <a:ext uri="{FF2B5EF4-FFF2-40B4-BE49-F238E27FC236}">
                  <a16:creationId xmlns:a16="http://schemas.microsoft.com/office/drawing/2014/main" id="{66E812AD-3B6A-034A-49EE-11B796DAFE3B}"/>
                </a:ext>
              </a:extLst>
            </p:cNvPr>
            <p:cNvSpPr txBox="1"/>
            <p:nvPr/>
          </p:nvSpPr>
          <p:spPr>
            <a:xfrm>
              <a:off x="0" y="0"/>
              <a:ext cx="5305349" cy="3255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439"/>
                </a:lnSpc>
              </a:pPr>
              <a:r>
                <a:rPr lang="en-US" sz="1200" dirty="0" err="1">
                  <a:solidFill>
                    <a:srgbClr val="64748B"/>
                  </a:solidFill>
                  <a:latin typeface="Open Sans"/>
                  <a:ea typeface="Open Sans"/>
                  <a:cs typeface="Open Sans"/>
                  <a:sym typeface="Open Sans"/>
                </a:rPr>
                <a:t>Ações</a:t>
              </a:r>
              <a:r>
                <a:rPr lang="en-US" sz="1200" dirty="0">
                  <a:solidFill>
                    <a:srgbClr val="64748B"/>
                  </a:solidFill>
                  <a:latin typeface="Open Sans"/>
                  <a:ea typeface="Open Sans"/>
                  <a:cs typeface="Open Sans"/>
                  <a:sym typeface="Open Sans"/>
                </a:rPr>
                <a:t>, </a:t>
              </a:r>
              <a:r>
                <a:rPr lang="en-US" sz="1200" dirty="0" err="1">
                  <a:solidFill>
                    <a:srgbClr val="64748B"/>
                  </a:solidFill>
                  <a:latin typeface="Open Sans"/>
                  <a:ea typeface="Open Sans"/>
                  <a:cs typeface="Open Sans"/>
                  <a:sym typeface="Open Sans"/>
                </a:rPr>
                <a:t>Alterações</a:t>
              </a:r>
              <a:r>
                <a:rPr lang="en-US" sz="1200" dirty="0">
                  <a:solidFill>
                    <a:srgbClr val="64748B"/>
                  </a:solidFill>
                  <a:latin typeface="Open Sans"/>
                  <a:ea typeface="Open Sans"/>
                  <a:cs typeface="Open Sans"/>
                  <a:sym typeface="Open Sans"/>
                </a:rPr>
                <a:t> </a:t>
              </a:r>
              <a:r>
                <a:rPr lang="en-US" sz="1200" dirty="0" err="1">
                  <a:solidFill>
                    <a:srgbClr val="64748B"/>
                  </a:solidFill>
                  <a:latin typeface="Open Sans"/>
                  <a:ea typeface="Open Sans"/>
                  <a:cs typeface="Open Sans"/>
                  <a:sym typeface="Open Sans"/>
                </a:rPr>
                <a:t>ou</a:t>
              </a:r>
              <a:r>
                <a:rPr lang="en-US" sz="1200" dirty="0">
                  <a:solidFill>
                    <a:srgbClr val="64748B"/>
                  </a:solidFill>
                  <a:latin typeface="Open Sans"/>
                  <a:ea typeface="Open Sans"/>
                  <a:cs typeface="Open Sans"/>
                  <a:sym typeface="Open Sans"/>
                </a:rPr>
                <a:t> Pontos de </a:t>
              </a:r>
              <a:r>
                <a:rPr lang="en-US" sz="1200" dirty="0" err="1">
                  <a:solidFill>
                    <a:srgbClr val="64748B"/>
                  </a:solidFill>
                  <a:latin typeface="Open Sans"/>
                  <a:ea typeface="Open Sans"/>
                  <a:cs typeface="Open Sans"/>
                  <a:sym typeface="Open Sans"/>
                </a:rPr>
                <a:t>atenção</a:t>
              </a:r>
              <a:r>
                <a:rPr lang="en-US" sz="1200" dirty="0">
                  <a:solidFill>
                    <a:srgbClr val="64748B"/>
                  </a:solidFill>
                  <a:latin typeface="Open Sans"/>
                  <a:ea typeface="Open Sans"/>
                  <a:cs typeface="Open Sans"/>
                  <a:sym typeface="Open Sans"/>
                </a:rPr>
                <a:t> </a:t>
              </a:r>
              <a:r>
                <a:rPr lang="en-US" sz="1200" dirty="0" err="1">
                  <a:solidFill>
                    <a:srgbClr val="64748B"/>
                  </a:solidFill>
                  <a:latin typeface="Open Sans"/>
                  <a:ea typeface="Open Sans"/>
                  <a:cs typeface="Open Sans"/>
                  <a:sym typeface="Open Sans"/>
                </a:rPr>
                <a:t>ocorridos</a:t>
              </a:r>
              <a:r>
                <a:rPr lang="en-US" sz="1200" dirty="0">
                  <a:solidFill>
                    <a:srgbClr val="64748B"/>
                  </a:solidFill>
                  <a:latin typeface="Open Sans"/>
                  <a:ea typeface="Open Sans"/>
                  <a:cs typeface="Open Sans"/>
                  <a:sym typeface="Open Sans"/>
                </a:rPr>
                <a:t> </a:t>
              </a:r>
              <a:r>
                <a:rPr lang="en-US" sz="1200" dirty="0" err="1">
                  <a:solidFill>
                    <a:srgbClr val="64748B"/>
                  </a:solidFill>
                  <a:latin typeface="Open Sans"/>
                  <a:ea typeface="Open Sans"/>
                  <a:cs typeface="Open Sans"/>
                  <a:sym typeface="Open Sans"/>
                </a:rPr>
                <a:t>na</a:t>
              </a:r>
              <a:r>
                <a:rPr lang="en-US" sz="1200" dirty="0">
                  <a:solidFill>
                    <a:srgbClr val="64748B"/>
                  </a:solidFill>
                  <a:latin typeface="Open Sans"/>
                  <a:ea typeface="Open Sans"/>
                  <a:cs typeface="Open Sans"/>
                  <a:sym typeface="Open Sans"/>
                </a:rPr>
                <a:t> </a:t>
              </a:r>
              <a:r>
                <a:rPr lang="en-US" sz="1200" dirty="0" err="1">
                  <a:solidFill>
                    <a:srgbClr val="64748B"/>
                  </a:solidFill>
                  <a:latin typeface="Open Sans"/>
                  <a:ea typeface="Open Sans"/>
                  <a:cs typeface="Open Sans"/>
                  <a:sym typeface="Open Sans"/>
                </a:rPr>
                <a:t>semana</a:t>
              </a:r>
              <a:r>
                <a:rPr lang="en-US" sz="1200" dirty="0">
                  <a:solidFill>
                    <a:srgbClr val="64748B"/>
                  </a:solidFill>
                  <a:latin typeface="Open Sans"/>
                  <a:ea typeface="Open Sans"/>
                  <a:cs typeface="Open Sans"/>
                  <a:sym typeface="Open Sans"/>
                </a:rPr>
                <a:t> anterior</a:t>
              </a:r>
            </a:p>
          </p:txBody>
        </p:sp>
      </p:grpSp>
      <p:grpSp>
        <p:nvGrpSpPr>
          <p:cNvPr id="161" name="Group 68">
            <a:extLst>
              <a:ext uri="{FF2B5EF4-FFF2-40B4-BE49-F238E27FC236}">
                <a16:creationId xmlns:a16="http://schemas.microsoft.com/office/drawing/2014/main" id="{7948AD64-5F43-067D-362F-4DDAECD2F033}"/>
              </a:ext>
            </a:extLst>
          </p:cNvPr>
          <p:cNvGrpSpPr/>
          <p:nvPr/>
        </p:nvGrpSpPr>
        <p:grpSpPr>
          <a:xfrm>
            <a:off x="13059841" y="3543300"/>
            <a:ext cx="5209962" cy="928573"/>
            <a:chOff x="0" y="0"/>
            <a:chExt cx="8381390" cy="1238098"/>
          </a:xfrm>
        </p:grpSpPr>
        <p:sp>
          <p:nvSpPr>
            <p:cNvPr id="162" name="Freeform 69">
              <a:extLst>
                <a:ext uri="{FF2B5EF4-FFF2-40B4-BE49-F238E27FC236}">
                  <a16:creationId xmlns:a16="http://schemas.microsoft.com/office/drawing/2014/main" id="{40B4BFD2-CF80-6717-B644-1658879C4952}"/>
                </a:ext>
              </a:extLst>
            </p:cNvPr>
            <p:cNvSpPr/>
            <p:nvPr/>
          </p:nvSpPr>
          <p:spPr>
            <a:xfrm>
              <a:off x="0" y="0"/>
              <a:ext cx="8381492" cy="1238250"/>
            </a:xfrm>
            <a:custGeom>
              <a:avLst/>
              <a:gdLst/>
              <a:ahLst/>
              <a:cxnLst/>
              <a:rect l="l" t="t" r="r" b="b"/>
              <a:pathLst>
                <a:path w="8381492" h="1238250">
                  <a:moveTo>
                    <a:pt x="0" y="450215"/>
                  </a:moveTo>
                  <a:cubicBezTo>
                    <a:pt x="0" y="201549"/>
                    <a:pt x="201549" y="0"/>
                    <a:pt x="450215" y="0"/>
                  </a:cubicBezTo>
                  <a:lnTo>
                    <a:pt x="7931277" y="0"/>
                  </a:lnTo>
                  <a:cubicBezTo>
                    <a:pt x="8179943" y="0"/>
                    <a:pt x="8381492" y="201549"/>
                    <a:pt x="8381492" y="450215"/>
                  </a:cubicBezTo>
                  <a:lnTo>
                    <a:pt x="8381492" y="788035"/>
                  </a:lnTo>
                  <a:cubicBezTo>
                    <a:pt x="8381492" y="1036701"/>
                    <a:pt x="8179943" y="1238250"/>
                    <a:pt x="7931277" y="1238250"/>
                  </a:cubicBezTo>
                  <a:lnTo>
                    <a:pt x="450215" y="1238250"/>
                  </a:lnTo>
                  <a:cubicBezTo>
                    <a:pt x="201549" y="1238123"/>
                    <a:pt x="0" y="1036574"/>
                    <a:pt x="0" y="787908"/>
                  </a:cubicBezTo>
                  <a:close/>
                </a:path>
              </a:pathLst>
            </a:custGeom>
            <a:solidFill>
              <a:srgbClr val="F8FAFC"/>
            </a:solidFill>
          </p:spPr>
          <p:txBody>
            <a:bodyPr/>
            <a:lstStyle/>
            <a:p>
              <a:endParaRPr lang="pt-BR" dirty="0"/>
            </a:p>
          </p:txBody>
        </p:sp>
      </p:grpSp>
      <p:grpSp>
        <p:nvGrpSpPr>
          <p:cNvPr id="163" name="Group 70">
            <a:extLst>
              <a:ext uri="{FF2B5EF4-FFF2-40B4-BE49-F238E27FC236}">
                <a16:creationId xmlns:a16="http://schemas.microsoft.com/office/drawing/2014/main" id="{CEB9C33C-EC06-FA3E-B390-976D5E7AF88E}"/>
              </a:ext>
            </a:extLst>
          </p:cNvPr>
          <p:cNvGrpSpPr/>
          <p:nvPr/>
        </p:nvGrpSpPr>
        <p:grpSpPr>
          <a:xfrm>
            <a:off x="12150970" y="3564914"/>
            <a:ext cx="76657" cy="947623"/>
            <a:chOff x="0" y="0"/>
            <a:chExt cx="102210" cy="1263498"/>
          </a:xfrm>
        </p:grpSpPr>
        <p:sp>
          <p:nvSpPr>
            <p:cNvPr id="164" name="Freeform 71">
              <a:extLst>
                <a:ext uri="{FF2B5EF4-FFF2-40B4-BE49-F238E27FC236}">
                  <a16:creationId xmlns:a16="http://schemas.microsoft.com/office/drawing/2014/main" id="{5E60D8F0-2327-B0D3-84CC-287E4175C4EA}"/>
                </a:ext>
              </a:extLst>
            </p:cNvPr>
            <p:cNvSpPr/>
            <p:nvPr/>
          </p:nvSpPr>
          <p:spPr>
            <a:xfrm>
              <a:off x="12700" y="12700"/>
              <a:ext cx="76835" cy="1237996"/>
            </a:xfrm>
            <a:custGeom>
              <a:avLst/>
              <a:gdLst/>
              <a:ahLst/>
              <a:cxnLst/>
              <a:rect l="l" t="t" r="r" b="b"/>
              <a:pathLst>
                <a:path w="76835" h="1237996">
                  <a:moveTo>
                    <a:pt x="0" y="50038"/>
                  </a:moveTo>
                  <a:cubicBezTo>
                    <a:pt x="0" y="22479"/>
                    <a:pt x="17145" y="0"/>
                    <a:pt x="38354" y="0"/>
                  </a:cubicBezTo>
                  <a:cubicBezTo>
                    <a:pt x="59563" y="0"/>
                    <a:pt x="76835" y="22479"/>
                    <a:pt x="76835" y="50038"/>
                  </a:cubicBezTo>
                  <a:lnTo>
                    <a:pt x="76835" y="1187958"/>
                  </a:lnTo>
                  <a:cubicBezTo>
                    <a:pt x="76835" y="1215644"/>
                    <a:pt x="59690" y="1237996"/>
                    <a:pt x="38481" y="1237996"/>
                  </a:cubicBezTo>
                  <a:cubicBezTo>
                    <a:pt x="17272" y="1237996"/>
                    <a:pt x="0" y="1215644"/>
                    <a:pt x="0" y="1187958"/>
                  </a:cubicBezTo>
                  <a:close/>
                </a:path>
              </a:pathLst>
            </a:custGeom>
            <a:solidFill>
              <a:srgbClr val="CBD5E1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65" name="Group 72">
            <a:extLst>
              <a:ext uri="{FF2B5EF4-FFF2-40B4-BE49-F238E27FC236}">
                <a16:creationId xmlns:a16="http://schemas.microsoft.com/office/drawing/2014/main" id="{142BB60F-7A5A-A40B-9849-AC9998A39713}"/>
              </a:ext>
            </a:extLst>
          </p:cNvPr>
          <p:cNvGrpSpPr/>
          <p:nvPr/>
        </p:nvGrpSpPr>
        <p:grpSpPr>
          <a:xfrm>
            <a:off x="12432072" y="3920082"/>
            <a:ext cx="200254" cy="229057"/>
            <a:chOff x="0" y="0"/>
            <a:chExt cx="267005" cy="305410"/>
          </a:xfrm>
        </p:grpSpPr>
        <p:sp>
          <p:nvSpPr>
            <p:cNvPr id="166" name="Freeform 73" descr="preencoded.png">
              <a:extLst>
                <a:ext uri="{FF2B5EF4-FFF2-40B4-BE49-F238E27FC236}">
                  <a16:creationId xmlns:a16="http://schemas.microsoft.com/office/drawing/2014/main" id="{B33437E5-1A9B-DB0F-4D36-77081F3F52E6}"/>
                </a:ext>
              </a:extLst>
            </p:cNvPr>
            <p:cNvSpPr/>
            <p:nvPr/>
          </p:nvSpPr>
          <p:spPr>
            <a:xfrm>
              <a:off x="0" y="0"/>
              <a:ext cx="266954" cy="305435"/>
            </a:xfrm>
            <a:custGeom>
              <a:avLst/>
              <a:gdLst/>
              <a:ahLst/>
              <a:cxnLst/>
              <a:rect l="l" t="t" r="r" b="b"/>
              <a:pathLst>
                <a:path w="266954" h="305435">
                  <a:moveTo>
                    <a:pt x="0" y="0"/>
                  </a:moveTo>
                  <a:lnTo>
                    <a:pt x="266954" y="0"/>
                  </a:lnTo>
                  <a:lnTo>
                    <a:pt x="266954" y="305435"/>
                  </a:lnTo>
                  <a:lnTo>
                    <a:pt x="0" y="3054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t="41" r="-589" b="54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67" name="Group 74">
            <a:extLst>
              <a:ext uri="{FF2B5EF4-FFF2-40B4-BE49-F238E27FC236}">
                <a16:creationId xmlns:a16="http://schemas.microsoft.com/office/drawing/2014/main" id="{05FDE194-312B-9E73-96A9-FBA1EC8C5F88}"/>
              </a:ext>
            </a:extLst>
          </p:cNvPr>
          <p:cNvGrpSpPr/>
          <p:nvPr/>
        </p:nvGrpSpPr>
        <p:grpSpPr>
          <a:xfrm>
            <a:off x="12846295" y="3788408"/>
            <a:ext cx="2772004" cy="271577"/>
            <a:chOff x="0" y="0"/>
            <a:chExt cx="3696005" cy="362102"/>
          </a:xfrm>
        </p:grpSpPr>
        <p:sp>
          <p:nvSpPr>
            <p:cNvPr id="168" name="Freeform 75">
              <a:extLst>
                <a:ext uri="{FF2B5EF4-FFF2-40B4-BE49-F238E27FC236}">
                  <a16:creationId xmlns:a16="http://schemas.microsoft.com/office/drawing/2014/main" id="{566B3D82-BB56-98A4-A524-FEAF31EA7FD1}"/>
                </a:ext>
              </a:extLst>
            </p:cNvPr>
            <p:cNvSpPr/>
            <p:nvPr/>
          </p:nvSpPr>
          <p:spPr>
            <a:xfrm>
              <a:off x="0" y="0"/>
              <a:ext cx="3696004" cy="362102"/>
            </a:xfrm>
            <a:custGeom>
              <a:avLst/>
              <a:gdLst/>
              <a:ahLst/>
              <a:cxnLst/>
              <a:rect l="l" t="t" r="r" b="b"/>
              <a:pathLst>
                <a:path w="3696004" h="362102">
                  <a:moveTo>
                    <a:pt x="0" y="0"/>
                  </a:moveTo>
                  <a:lnTo>
                    <a:pt x="3696004" y="0"/>
                  </a:lnTo>
                  <a:lnTo>
                    <a:pt x="3696004" y="362102"/>
                  </a:lnTo>
                  <a:lnTo>
                    <a:pt x="0" y="3621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8885" b="-148885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169" name="TextBox 76">
              <a:extLst>
                <a:ext uri="{FF2B5EF4-FFF2-40B4-BE49-F238E27FC236}">
                  <a16:creationId xmlns:a16="http://schemas.microsoft.com/office/drawing/2014/main" id="{B26FDDD3-CF16-3452-E5C1-879EB33133F3}"/>
                </a:ext>
              </a:extLst>
            </p:cNvPr>
            <p:cNvSpPr txBox="1"/>
            <p:nvPr/>
          </p:nvSpPr>
          <p:spPr>
            <a:xfrm>
              <a:off x="0" y="0"/>
              <a:ext cx="3696005" cy="36210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 dirty="0" err="1">
                  <a:solidFill>
                    <a:srgbClr val="334155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Recomendações</a:t>
              </a:r>
              <a:endParaRPr lang="en-US" sz="1500" b="1" dirty="0">
                <a:solidFill>
                  <a:srgbClr val="334155"/>
                </a:solidFill>
                <a:latin typeface="Open Sans Bold"/>
                <a:ea typeface="Open Sans Bold"/>
                <a:cs typeface="Open Sans Bold"/>
                <a:sym typeface="Open Sans Bold"/>
              </a:endParaRPr>
            </a:p>
          </p:txBody>
        </p:sp>
      </p:grpSp>
      <p:grpSp>
        <p:nvGrpSpPr>
          <p:cNvPr id="173" name="Group 80">
            <a:extLst>
              <a:ext uri="{FF2B5EF4-FFF2-40B4-BE49-F238E27FC236}">
                <a16:creationId xmlns:a16="http://schemas.microsoft.com/office/drawing/2014/main" id="{129EB751-BF89-6CAE-589C-E97C0D83AC78}"/>
              </a:ext>
            </a:extLst>
          </p:cNvPr>
          <p:cNvGrpSpPr/>
          <p:nvPr/>
        </p:nvGrpSpPr>
        <p:grpSpPr>
          <a:xfrm>
            <a:off x="12757175" y="4624273"/>
            <a:ext cx="5530825" cy="928573"/>
            <a:chOff x="0" y="0"/>
            <a:chExt cx="8381390" cy="1238098"/>
          </a:xfrm>
        </p:grpSpPr>
        <p:sp>
          <p:nvSpPr>
            <p:cNvPr id="174" name="Freeform 81">
              <a:extLst>
                <a:ext uri="{FF2B5EF4-FFF2-40B4-BE49-F238E27FC236}">
                  <a16:creationId xmlns:a16="http://schemas.microsoft.com/office/drawing/2014/main" id="{66B39FC2-86C5-0FD4-B3C3-840D755F0891}"/>
                </a:ext>
              </a:extLst>
            </p:cNvPr>
            <p:cNvSpPr/>
            <p:nvPr/>
          </p:nvSpPr>
          <p:spPr>
            <a:xfrm>
              <a:off x="0" y="0"/>
              <a:ext cx="8381492" cy="1238250"/>
            </a:xfrm>
            <a:custGeom>
              <a:avLst/>
              <a:gdLst/>
              <a:ahLst/>
              <a:cxnLst/>
              <a:rect l="l" t="t" r="r" b="b"/>
              <a:pathLst>
                <a:path w="8381492" h="1238250">
                  <a:moveTo>
                    <a:pt x="0" y="450215"/>
                  </a:moveTo>
                  <a:cubicBezTo>
                    <a:pt x="0" y="201549"/>
                    <a:pt x="201549" y="0"/>
                    <a:pt x="450215" y="0"/>
                  </a:cubicBezTo>
                  <a:lnTo>
                    <a:pt x="7931277" y="0"/>
                  </a:lnTo>
                  <a:cubicBezTo>
                    <a:pt x="8179943" y="0"/>
                    <a:pt x="8381492" y="201549"/>
                    <a:pt x="8381492" y="450215"/>
                  </a:cubicBezTo>
                  <a:lnTo>
                    <a:pt x="8381492" y="788035"/>
                  </a:lnTo>
                  <a:cubicBezTo>
                    <a:pt x="8381492" y="1036701"/>
                    <a:pt x="8179943" y="1238250"/>
                    <a:pt x="7931277" y="1238250"/>
                  </a:cubicBezTo>
                  <a:lnTo>
                    <a:pt x="450215" y="1238250"/>
                  </a:lnTo>
                  <a:cubicBezTo>
                    <a:pt x="201549" y="1238123"/>
                    <a:pt x="0" y="1036574"/>
                    <a:pt x="0" y="787908"/>
                  </a:cubicBezTo>
                  <a:close/>
                </a:path>
              </a:pathLst>
            </a:custGeom>
            <a:solidFill>
              <a:srgbClr val="F8FAFC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75" name="Group 82">
            <a:extLst>
              <a:ext uri="{FF2B5EF4-FFF2-40B4-BE49-F238E27FC236}">
                <a16:creationId xmlns:a16="http://schemas.microsoft.com/office/drawing/2014/main" id="{F5F92742-1882-2F3C-C9EF-4475257C7353}"/>
              </a:ext>
            </a:extLst>
          </p:cNvPr>
          <p:cNvGrpSpPr/>
          <p:nvPr/>
        </p:nvGrpSpPr>
        <p:grpSpPr>
          <a:xfrm>
            <a:off x="12150970" y="4629275"/>
            <a:ext cx="76657" cy="947623"/>
            <a:chOff x="0" y="0"/>
            <a:chExt cx="102210" cy="1263498"/>
          </a:xfrm>
        </p:grpSpPr>
        <p:sp>
          <p:nvSpPr>
            <p:cNvPr id="176" name="Freeform 83">
              <a:extLst>
                <a:ext uri="{FF2B5EF4-FFF2-40B4-BE49-F238E27FC236}">
                  <a16:creationId xmlns:a16="http://schemas.microsoft.com/office/drawing/2014/main" id="{CACBE89E-C37C-7C9F-A996-0011F607567F}"/>
                </a:ext>
              </a:extLst>
            </p:cNvPr>
            <p:cNvSpPr/>
            <p:nvPr/>
          </p:nvSpPr>
          <p:spPr>
            <a:xfrm>
              <a:off x="12700" y="12700"/>
              <a:ext cx="76835" cy="1237996"/>
            </a:xfrm>
            <a:custGeom>
              <a:avLst/>
              <a:gdLst/>
              <a:ahLst/>
              <a:cxnLst/>
              <a:rect l="l" t="t" r="r" b="b"/>
              <a:pathLst>
                <a:path w="76835" h="1237996">
                  <a:moveTo>
                    <a:pt x="0" y="50038"/>
                  </a:moveTo>
                  <a:cubicBezTo>
                    <a:pt x="0" y="22479"/>
                    <a:pt x="17145" y="0"/>
                    <a:pt x="38354" y="0"/>
                  </a:cubicBezTo>
                  <a:cubicBezTo>
                    <a:pt x="59563" y="0"/>
                    <a:pt x="76835" y="22479"/>
                    <a:pt x="76835" y="50038"/>
                  </a:cubicBezTo>
                  <a:lnTo>
                    <a:pt x="76835" y="1187958"/>
                  </a:lnTo>
                  <a:cubicBezTo>
                    <a:pt x="76835" y="1215644"/>
                    <a:pt x="59690" y="1237996"/>
                    <a:pt x="38481" y="1237996"/>
                  </a:cubicBezTo>
                  <a:cubicBezTo>
                    <a:pt x="17272" y="1237996"/>
                    <a:pt x="0" y="1215644"/>
                    <a:pt x="0" y="1187958"/>
                  </a:cubicBezTo>
                  <a:close/>
                </a:path>
              </a:pathLst>
            </a:custGeom>
            <a:solidFill>
              <a:srgbClr val="CBD5E1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77" name="Group 84">
            <a:extLst>
              <a:ext uri="{FF2B5EF4-FFF2-40B4-BE49-F238E27FC236}">
                <a16:creationId xmlns:a16="http://schemas.microsoft.com/office/drawing/2014/main" id="{A8F71FF6-B2AE-16E1-8C55-CF71887B3E33}"/>
              </a:ext>
            </a:extLst>
          </p:cNvPr>
          <p:cNvGrpSpPr/>
          <p:nvPr/>
        </p:nvGrpSpPr>
        <p:grpSpPr>
          <a:xfrm>
            <a:off x="12432072" y="4984443"/>
            <a:ext cx="200254" cy="229057"/>
            <a:chOff x="0" y="0"/>
            <a:chExt cx="267005" cy="305410"/>
          </a:xfrm>
        </p:grpSpPr>
        <p:sp>
          <p:nvSpPr>
            <p:cNvPr id="178" name="Freeform 85" descr="preencoded.png">
              <a:extLst>
                <a:ext uri="{FF2B5EF4-FFF2-40B4-BE49-F238E27FC236}">
                  <a16:creationId xmlns:a16="http://schemas.microsoft.com/office/drawing/2014/main" id="{5C5C4F1C-C2BB-8F32-2DA7-AF0FBE2F4FB0}"/>
                </a:ext>
              </a:extLst>
            </p:cNvPr>
            <p:cNvSpPr/>
            <p:nvPr/>
          </p:nvSpPr>
          <p:spPr>
            <a:xfrm>
              <a:off x="0" y="0"/>
              <a:ext cx="266954" cy="305435"/>
            </a:xfrm>
            <a:custGeom>
              <a:avLst/>
              <a:gdLst/>
              <a:ahLst/>
              <a:cxnLst/>
              <a:rect l="l" t="t" r="r" b="b"/>
              <a:pathLst>
                <a:path w="266954" h="305435">
                  <a:moveTo>
                    <a:pt x="0" y="0"/>
                  </a:moveTo>
                  <a:lnTo>
                    <a:pt x="266954" y="0"/>
                  </a:lnTo>
                  <a:lnTo>
                    <a:pt x="266954" y="305435"/>
                  </a:lnTo>
                  <a:lnTo>
                    <a:pt x="0" y="3054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41" r="-589" b="54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79" name="Group 86">
            <a:extLst>
              <a:ext uri="{FF2B5EF4-FFF2-40B4-BE49-F238E27FC236}">
                <a16:creationId xmlns:a16="http://schemas.microsoft.com/office/drawing/2014/main" id="{B3BD26F0-3033-38FB-71C5-A71DDAD82EFB}"/>
              </a:ext>
            </a:extLst>
          </p:cNvPr>
          <p:cNvGrpSpPr/>
          <p:nvPr/>
        </p:nvGrpSpPr>
        <p:grpSpPr>
          <a:xfrm>
            <a:off x="12846295" y="4852770"/>
            <a:ext cx="2788463" cy="271577"/>
            <a:chOff x="0" y="0"/>
            <a:chExt cx="3717950" cy="362102"/>
          </a:xfrm>
        </p:grpSpPr>
        <p:sp>
          <p:nvSpPr>
            <p:cNvPr id="180" name="Freeform 87">
              <a:extLst>
                <a:ext uri="{FF2B5EF4-FFF2-40B4-BE49-F238E27FC236}">
                  <a16:creationId xmlns:a16="http://schemas.microsoft.com/office/drawing/2014/main" id="{2A9707C2-3DA0-D556-01B7-840264AB888B}"/>
                </a:ext>
              </a:extLst>
            </p:cNvPr>
            <p:cNvSpPr/>
            <p:nvPr/>
          </p:nvSpPr>
          <p:spPr>
            <a:xfrm>
              <a:off x="0" y="0"/>
              <a:ext cx="3717950" cy="362102"/>
            </a:xfrm>
            <a:custGeom>
              <a:avLst/>
              <a:gdLst/>
              <a:ahLst/>
              <a:cxnLst/>
              <a:rect l="l" t="t" r="r" b="b"/>
              <a:pathLst>
                <a:path w="3717950" h="362102">
                  <a:moveTo>
                    <a:pt x="0" y="0"/>
                  </a:moveTo>
                  <a:lnTo>
                    <a:pt x="3717950" y="0"/>
                  </a:lnTo>
                  <a:lnTo>
                    <a:pt x="3717950" y="362102"/>
                  </a:lnTo>
                  <a:lnTo>
                    <a:pt x="0" y="3621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0066" b="-150066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181" name="TextBox 88">
              <a:extLst>
                <a:ext uri="{FF2B5EF4-FFF2-40B4-BE49-F238E27FC236}">
                  <a16:creationId xmlns:a16="http://schemas.microsoft.com/office/drawing/2014/main" id="{5623F68A-BFB4-3EC8-58AA-970623FCDA75}"/>
                </a:ext>
              </a:extLst>
            </p:cNvPr>
            <p:cNvSpPr txBox="1"/>
            <p:nvPr/>
          </p:nvSpPr>
          <p:spPr>
            <a:xfrm>
              <a:off x="0" y="0"/>
              <a:ext cx="3717950" cy="36210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 dirty="0" err="1">
                  <a:solidFill>
                    <a:srgbClr val="334155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Confirmar</a:t>
              </a:r>
              <a:r>
                <a:rPr lang="en-US" sz="1500" b="1" dirty="0">
                  <a:solidFill>
                    <a:srgbClr val="334155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 </a:t>
              </a:r>
              <a:r>
                <a:rPr lang="en-US" sz="1500" b="1" dirty="0" err="1">
                  <a:solidFill>
                    <a:srgbClr val="334155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Responsáveis</a:t>
              </a:r>
              <a:endParaRPr lang="en-US" sz="1500" b="1" dirty="0">
                <a:solidFill>
                  <a:srgbClr val="334155"/>
                </a:solidFill>
                <a:latin typeface="Open Sans Bold"/>
                <a:ea typeface="Open Sans Bold"/>
                <a:cs typeface="Open Sans Bold"/>
                <a:sym typeface="Open Sans Bold"/>
              </a:endParaRPr>
            </a:p>
          </p:txBody>
        </p:sp>
      </p:grpSp>
      <p:grpSp>
        <p:nvGrpSpPr>
          <p:cNvPr id="182" name="Group 89">
            <a:extLst>
              <a:ext uri="{FF2B5EF4-FFF2-40B4-BE49-F238E27FC236}">
                <a16:creationId xmlns:a16="http://schemas.microsoft.com/office/drawing/2014/main" id="{19601BA5-F5FD-0CD6-E059-9B57555CC420}"/>
              </a:ext>
            </a:extLst>
          </p:cNvPr>
          <p:cNvGrpSpPr/>
          <p:nvPr/>
        </p:nvGrpSpPr>
        <p:grpSpPr>
          <a:xfrm>
            <a:off x="12846294" y="5153150"/>
            <a:ext cx="5441705" cy="371350"/>
            <a:chOff x="0" y="0"/>
            <a:chExt cx="5283403" cy="325526"/>
          </a:xfrm>
        </p:grpSpPr>
        <p:sp>
          <p:nvSpPr>
            <p:cNvPr id="183" name="Freeform 90">
              <a:extLst>
                <a:ext uri="{FF2B5EF4-FFF2-40B4-BE49-F238E27FC236}">
                  <a16:creationId xmlns:a16="http://schemas.microsoft.com/office/drawing/2014/main" id="{C2EDF351-7781-18C4-09C7-E63E7725EFE0}"/>
                </a:ext>
              </a:extLst>
            </p:cNvPr>
            <p:cNvSpPr/>
            <p:nvPr/>
          </p:nvSpPr>
          <p:spPr>
            <a:xfrm>
              <a:off x="0" y="0"/>
              <a:ext cx="5283404" cy="325526"/>
            </a:xfrm>
            <a:custGeom>
              <a:avLst/>
              <a:gdLst/>
              <a:ahLst/>
              <a:cxnLst/>
              <a:rect l="l" t="t" r="r" b="b"/>
              <a:pathLst>
                <a:path w="5283404" h="325526">
                  <a:moveTo>
                    <a:pt x="0" y="0"/>
                  </a:moveTo>
                  <a:lnTo>
                    <a:pt x="5283404" y="0"/>
                  </a:lnTo>
                  <a:lnTo>
                    <a:pt x="5283404" y="325526"/>
                  </a:lnTo>
                  <a:lnTo>
                    <a:pt x="0" y="3255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6249" b="-266249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184" name="TextBox 91">
              <a:extLst>
                <a:ext uri="{FF2B5EF4-FFF2-40B4-BE49-F238E27FC236}">
                  <a16:creationId xmlns:a16="http://schemas.microsoft.com/office/drawing/2014/main" id="{D59D22F7-4B14-3CED-FC55-C9B71FBCD8C5}"/>
                </a:ext>
              </a:extLst>
            </p:cNvPr>
            <p:cNvSpPr txBox="1"/>
            <p:nvPr/>
          </p:nvSpPr>
          <p:spPr>
            <a:xfrm>
              <a:off x="0" y="0"/>
              <a:ext cx="5283403" cy="3255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439"/>
                </a:lnSpc>
              </a:pPr>
              <a:r>
                <a:rPr lang="en-US" sz="1200" dirty="0" err="1">
                  <a:solidFill>
                    <a:srgbClr val="64748B"/>
                  </a:solidFill>
                  <a:latin typeface="Open Sans"/>
                  <a:ea typeface="Open Sans"/>
                  <a:cs typeface="Open Sans"/>
                  <a:sym typeface="Open Sans"/>
                </a:rPr>
                <a:t>Lideres</a:t>
              </a:r>
              <a:r>
                <a:rPr lang="en-US" sz="1200" dirty="0">
                  <a:solidFill>
                    <a:srgbClr val="64748B"/>
                  </a:solidFill>
                  <a:latin typeface="Open Sans"/>
                  <a:ea typeface="Open Sans"/>
                  <a:cs typeface="Open Sans"/>
                  <a:sym typeface="Open Sans"/>
                </a:rPr>
                <a:t>/Areas </a:t>
              </a:r>
              <a:r>
                <a:rPr lang="en-US" sz="1200" dirty="0" err="1">
                  <a:solidFill>
                    <a:srgbClr val="64748B"/>
                  </a:solidFill>
                  <a:latin typeface="Open Sans"/>
                  <a:ea typeface="Open Sans"/>
                  <a:cs typeface="Open Sans"/>
                  <a:sym typeface="Open Sans"/>
                </a:rPr>
                <a:t>que</a:t>
              </a:r>
              <a:r>
                <a:rPr lang="en-US" sz="1200" dirty="0">
                  <a:solidFill>
                    <a:srgbClr val="64748B"/>
                  </a:solidFill>
                  <a:latin typeface="Open Sans"/>
                  <a:ea typeface="Open Sans"/>
                  <a:cs typeface="Open Sans"/>
                  <a:sym typeface="Open Sans"/>
                </a:rPr>
                <a:t> de </a:t>
              </a:r>
              <a:r>
                <a:rPr lang="en-US" sz="1200" dirty="0" err="1">
                  <a:solidFill>
                    <a:srgbClr val="64748B"/>
                  </a:solidFill>
                  <a:latin typeface="Open Sans"/>
                  <a:ea typeface="Open Sans"/>
                  <a:cs typeface="Open Sans"/>
                  <a:sym typeface="Open Sans"/>
                </a:rPr>
                <a:t>precisam</a:t>
              </a:r>
              <a:r>
                <a:rPr lang="en-US" sz="1200" dirty="0">
                  <a:solidFill>
                    <a:srgbClr val="64748B"/>
                  </a:solidFill>
                  <a:latin typeface="Open Sans"/>
                  <a:ea typeface="Open Sans"/>
                  <a:cs typeface="Open Sans"/>
                  <a:sym typeface="Open Sans"/>
                </a:rPr>
                <a:t> </a:t>
              </a:r>
              <a:r>
                <a:rPr lang="en-US" sz="1200" dirty="0" err="1">
                  <a:solidFill>
                    <a:srgbClr val="64748B"/>
                  </a:solidFill>
                  <a:latin typeface="Open Sans"/>
                  <a:ea typeface="Open Sans"/>
                  <a:cs typeface="Open Sans"/>
                  <a:sym typeface="Open Sans"/>
                </a:rPr>
                <a:t>intervir</a:t>
              </a:r>
              <a:r>
                <a:rPr lang="en-US" sz="1200" dirty="0">
                  <a:solidFill>
                    <a:srgbClr val="64748B"/>
                  </a:solidFill>
                  <a:latin typeface="Open Sans"/>
                  <a:ea typeface="Open Sans"/>
                  <a:cs typeface="Open Sans"/>
                  <a:sym typeface="Open Sans"/>
                </a:rPr>
                <a:t> </a:t>
              </a:r>
              <a:r>
                <a:rPr lang="en-US" sz="1200" dirty="0" err="1">
                  <a:solidFill>
                    <a:srgbClr val="64748B"/>
                  </a:solidFill>
                  <a:latin typeface="Open Sans"/>
                  <a:ea typeface="Open Sans"/>
                  <a:cs typeface="Open Sans"/>
                  <a:sym typeface="Open Sans"/>
                </a:rPr>
                <a:t>ou</a:t>
              </a:r>
              <a:r>
                <a:rPr lang="en-US" sz="1200" dirty="0">
                  <a:solidFill>
                    <a:srgbClr val="64748B"/>
                  </a:solidFill>
                  <a:latin typeface="Open Sans"/>
                  <a:ea typeface="Open Sans"/>
                  <a:cs typeface="Open Sans"/>
                  <a:sym typeface="Open Sans"/>
                </a:rPr>
                <a:t> </a:t>
              </a:r>
              <a:r>
                <a:rPr lang="en-US" sz="1200" dirty="0" err="1">
                  <a:solidFill>
                    <a:srgbClr val="64748B"/>
                  </a:solidFill>
                  <a:latin typeface="Open Sans"/>
                  <a:ea typeface="Open Sans"/>
                  <a:cs typeface="Open Sans"/>
                  <a:sym typeface="Open Sans"/>
                </a:rPr>
                <a:t>possuam</a:t>
              </a:r>
              <a:r>
                <a:rPr lang="en-US" sz="1200" dirty="0">
                  <a:solidFill>
                    <a:srgbClr val="64748B"/>
                  </a:solidFill>
                  <a:latin typeface="Open Sans"/>
                  <a:ea typeface="Open Sans"/>
                  <a:cs typeface="Open Sans"/>
                  <a:sym typeface="Open Sans"/>
                </a:rPr>
                <a:t> </a:t>
              </a:r>
              <a:r>
                <a:rPr lang="en-US" sz="1200" dirty="0" err="1">
                  <a:solidFill>
                    <a:srgbClr val="64748B"/>
                  </a:solidFill>
                  <a:latin typeface="Open Sans"/>
                  <a:ea typeface="Open Sans"/>
                  <a:cs typeface="Open Sans"/>
                  <a:sym typeface="Open Sans"/>
                </a:rPr>
                <a:t>influenciam</a:t>
              </a:r>
              <a:r>
                <a:rPr lang="en-US" sz="1200" dirty="0">
                  <a:solidFill>
                    <a:srgbClr val="64748B"/>
                  </a:solidFill>
                  <a:latin typeface="Open Sans"/>
                  <a:ea typeface="Open Sans"/>
                  <a:cs typeface="Open Sans"/>
                  <a:sym typeface="Open Sans"/>
                </a:rPr>
                <a:t> </a:t>
              </a:r>
              <a:r>
                <a:rPr lang="en-US" sz="1200" dirty="0" err="1">
                  <a:solidFill>
                    <a:srgbClr val="64748B"/>
                  </a:solidFill>
                  <a:latin typeface="Open Sans"/>
                  <a:ea typeface="Open Sans"/>
                  <a:cs typeface="Open Sans"/>
                  <a:sym typeface="Open Sans"/>
                </a:rPr>
                <a:t>na</a:t>
              </a:r>
              <a:r>
                <a:rPr lang="en-US" sz="1200" dirty="0">
                  <a:solidFill>
                    <a:srgbClr val="64748B"/>
                  </a:solidFill>
                  <a:latin typeface="Open Sans"/>
                  <a:ea typeface="Open Sans"/>
                  <a:cs typeface="Open Sans"/>
                  <a:sym typeface="Open Sans"/>
                </a:rPr>
                <a:t> performance/</a:t>
              </a:r>
              <a:r>
                <a:rPr lang="en-US" sz="1200" dirty="0" err="1">
                  <a:solidFill>
                    <a:srgbClr val="64748B"/>
                  </a:solidFill>
                  <a:latin typeface="Open Sans"/>
                  <a:ea typeface="Open Sans"/>
                  <a:cs typeface="Open Sans"/>
                  <a:sym typeface="Open Sans"/>
                </a:rPr>
                <a:t>ações</a:t>
              </a:r>
              <a:endParaRPr lang="en-US" sz="1200" dirty="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85" name="Group 92">
            <a:extLst>
              <a:ext uri="{FF2B5EF4-FFF2-40B4-BE49-F238E27FC236}">
                <a16:creationId xmlns:a16="http://schemas.microsoft.com/office/drawing/2014/main" id="{0935D977-38B7-3DCF-FC04-8D0F8ECB9FD1}"/>
              </a:ext>
            </a:extLst>
          </p:cNvPr>
          <p:cNvGrpSpPr/>
          <p:nvPr/>
        </p:nvGrpSpPr>
        <p:grpSpPr>
          <a:xfrm>
            <a:off x="12757175" y="5688635"/>
            <a:ext cx="5530825" cy="928573"/>
            <a:chOff x="0" y="0"/>
            <a:chExt cx="8381390" cy="1238098"/>
          </a:xfrm>
        </p:grpSpPr>
        <p:sp>
          <p:nvSpPr>
            <p:cNvPr id="186" name="Freeform 93">
              <a:extLst>
                <a:ext uri="{FF2B5EF4-FFF2-40B4-BE49-F238E27FC236}">
                  <a16:creationId xmlns:a16="http://schemas.microsoft.com/office/drawing/2014/main" id="{56CE5162-B34B-1D01-2BA0-BC0F7DB16DFD}"/>
                </a:ext>
              </a:extLst>
            </p:cNvPr>
            <p:cNvSpPr/>
            <p:nvPr/>
          </p:nvSpPr>
          <p:spPr>
            <a:xfrm>
              <a:off x="0" y="0"/>
              <a:ext cx="8381492" cy="1238250"/>
            </a:xfrm>
            <a:custGeom>
              <a:avLst/>
              <a:gdLst/>
              <a:ahLst/>
              <a:cxnLst/>
              <a:rect l="l" t="t" r="r" b="b"/>
              <a:pathLst>
                <a:path w="8381492" h="1238250">
                  <a:moveTo>
                    <a:pt x="0" y="450215"/>
                  </a:moveTo>
                  <a:cubicBezTo>
                    <a:pt x="0" y="201549"/>
                    <a:pt x="201549" y="0"/>
                    <a:pt x="450215" y="0"/>
                  </a:cubicBezTo>
                  <a:lnTo>
                    <a:pt x="7931277" y="0"/>
                  </a:lnTo>
                  <a:cubicBezTo>
                    <a:pt x="8179943" y="0"/>
                    <a:pt x="8381492" y="201549"/>
                    <a:pt x="8381492" y="450215"/>
                  </a:cubicBezTo>
                  <a:lnTo>
                    <a:pt x="8381492" y="788035"/>
                  </a:lnTo>
                  <a:cubicBezTo>
                    <a:pt x="8381492" y="1036701"/>
                    <a:pt x="8179943" y="1238250"/>
                    <a:pt x="7931277" y="1238250"/>
                  </a:cubicBezTo>
                  <a:lnTo>
                    <a:pt x="450215" y="1238250"/>
                  </a:lnTo>
                  <a:cubicBezTo>
                    <a:pt x="201549" y="1238123"/>
                    <a:pt x="0" y="1036574"/>
                    <a:pt x="0" y="787908"/>
                  </a:cubicBezTo>
                  <a:close/>
                </a:path>
              </a:pathLst>
            </a:custGeom>
            <a:solidFill>
              <a:srgbClr val="F8FAFC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87" name="Group 94">
            <a:extLst>
              <a:ext uri="{FF2B5EF4-FFF2-40B4-BE49-F238E27FC236}">
                <a16:creationId xmlns:a16="http://schemas.microsoft.com/office/drawing/2014/main" id="{C42E28AD-1719-86F0-26AA-99ECAAF9AFAB}"/>
              </a:ext>
            </a:extLst>
          </p:cNvPr>
          <p:cNvGrpSpPr/>
          <p:nvPr/>
        </p:nvGrpSpPr>
        <p:grpSpPr>
          <a:xfrm>
            <a:off x="12150970" y="5693637"/>
            <a:ext cx="76657" cy="947623"/>
            <a:chOff x="0" y="0"/>
            <a:chExt cx="102210" cy="1263498"/>
          </a:xfrm>
        </p:grpSpPr>
        <p:sp>
          <p:nvSpPr>
            <p:cNvPr id="188" name="Freeform 95">
              <a:extLst>
                <a:ext uri="{FF2B5EF4-FFF2-40B4-BE49-F238E27FC236}">
                  <a16:creationId xmlns:a16="http://schemas.microsoft.com/office/drawing/2014/main" id="{0D4F0DD4-FF5C-0791-6102-A8B6EA39AAED}"/>
                </a:ext>
              </a:extLst>
            </p:cNvPr>
            <p:cNvSpPr/>
            <p:nvPr/>
          </p:nvSpPr>
          <p:spPr>
            <a:xfrm>
              <a:off x="12700" y="12700"/>
              <a:ext cx="76835" cy="1237996"/>
            </a:xfrm>
            <a:custGeom>
              <a:avLst/>
              <a:gdLst/>
              <a:ahLst/>
              <a:cxnLst/>
              <a:rect l="l" t="t" r="r" b="b"/>
              <a:pathLst>
                <a:path w="76835" h="1237996">
                  <a:moveTo>
                    <a:pt x="0" y="50038"/>
                  </a:moveTo>
                  <a:cubicBezTo>
                    <a:pt x="0" y="22479"/>
                    <a:pt x="17145" y="0"/>
                    <a:pt x="38354" y="0"/>
                  </a:cubicBezTo>
                  <a:cubicBezTo>
                    <a:pt x="59563" y="0"/>
                    <a:pt x="76835" y="22479"/>
                    <a:pt x="76835" y="50038"/>
                  </a:cubicBezTo>
                  <a:lnTo>
                    <a:pt x="76835" y="1187958"/>
                  </a:lnTo>
                  <a:cubicBezTo>
                    <a:pt x="76835" y="1215644"/>
                    <a:pt x="59690" y="1237996"/>
                    <a:pt x="38481" y="1237996"/>
                  </a:cubicBezTo>
                  <a:cubicBezTo>
                    <a:pt x="17272" y="1237996"/>
                    <a:pt x="0" y="1215644"/>
                    <a:pt x="0" y="1187958"/>
                  </a:cubicBezTo>
                  <a:close/>
                </a:path>
              </a:pathLst>
            </a:custGeom>
            <a:solidFill>
              <a:srgbClr val="CBD5E1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89" name="Group 96">
            <a:extLst>
              <a:ext uri="{FF2B5EF4-FFF2-40B4-BE49-F238E27FC236}">
                <a16:creationId xmlns:a16="http://schemas.microsoft.com/office/drawing/2014/main" id="{A5DACC89-87E1-EE15-BEF1-A92A08E6079F}"/>
              </a:ext>
            </a:extLst>
          </p:cNvPr>
          <p:cNvGrpSpPr/>
          <p:nvPr/>
        </p:nvGrpSpPr>
        <p:grpSpPr>
          <a:xfrm>
            <a:off x="12432072" y="6048805"/>
            <a:ext cx="229057" cy="229057"/>
            <a:chOff x="0" y="0"/>
            <a:chExt cx="305410" cy="305410"/>
          </a:xfrm>
        </p:grpSpPr>
        <p:sp>
          <p:nvSpPr>
            <p:cNvPr id="190" name="Freeform 97" descr="preencoded.png">
              <a:extLst>
                <a:ext uri="{FF2B5EF4-FFF2-40B4-BE49-F238E27FC236}">
                  <a16:creationId xmlns:a16="http://schemas.microsoft.com/office/drawing/2014/main" id="{80CEEA83-6251-7BFA-B13E-A663D630319B}"/>
                </a:ext>
              </a:extLst>
            </p:cNvPr>
            <p:cNvSpPr/>
            <p:nvPr/>
          </p:nvSpPr>
          <p:spPr>
            <a:xfrm>
              <a:off x="0" y="0"/>
              <a:ext cx="305435" cy="305435"/>
            </a:xfrm>
            <a:custGeom>
              <a:avLst/>
              <a:gdLst/>
              <a:ahLst/>
              <a:cxnLst/>
              <a:rect l="l" t="t" r="r" b="b"/>
              <a:pathLst>
                <a:path w="305435" h="305435">
                  <a:moveTo>
                    <a:pt x="0" y="0"/>
                  </a:moveTo>
                  <a:lnTo>
                    <a:pt x="305435" y="0"/>
                  </a:lnTo>
                  <a:lnTo>
                    <a:pt x="305435" y="305435"/>
                  </a:lnTo>
                  <a:lnTo>
                    <a:pt x="0" y="3054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r="8" b="8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91" name="Group 98">
            <a:extLst>
              <a:ext uri="{FF2B5EF4-FFF2-40B4-BE49-F238E27FC236}">
                <a16:creationId xmlns:a16="http://schemas.microsoft.com/office/drawing/2014/main" id="{FEB535F5-D6EF-2C92-1771-D55A9FDE765C}"/>
              </a:ext>
            </a:extLst>
          </p:cNvPr>
          <p:cNvGrpSpPr/>
          <p:nvPr/>
        </p:nvGrpSpPr>
        <p:grpSpPr>
          <a:xfrm>
            <a:off x="12875099" y="5917131"/>
            <a:ext cx="4498501" cy="244145"/>
            <a:chOff x="0" y="0"/>
            <a:chExt cx="4603090" cy="362102"/>
          </a:xfrm>
        </p:grpSpPr>
        <p:sp>
          <p:nvSpPr>
            <p:cNvPr id="192" name="Freeform 99">
              <a:extLst>
                <a:ext uri="{FF2B5EF4-FFF2-40B4-BE49-F238E27FC236}">
                  <a16:creationId xmlns:a16="http://schemas.microsoft.com/office/drawing/2014/main" id="{1575F2E4-7DC3-B68E-A5A6-B62529C0B917}"/>
                </a:ext>
              </a:extLst>
            </p:cNvPr>
            <p:cNvSpPr/>
            <p:nvPr/>
          </p:nvSpPr>
          <p:spPr>
            <a:xfrm>
              <a:off x="0" y="0"/>
              <a:ext cx="4603090" cy="362102"/>
            </a:xfrm>
            <a:custGeom>
              <a:avLst/>
              <a:gdLst/>
              <a:ahLst/>
              <a:cxnLst/>
              <a:rect l="l" t="t" r="r" b="b"/>
              <a:pathLst>
                <a:path w="4603090" h="362102">
                  <a:moveTo>
                    <a:pt x="0" y="0"/>
                  </a:moveTo>
                  <a:lnTo>
                    <a:pt x="4603090" y="0"/>
                  </a:lnTo>
                  <a:lnTo>
                    <a:pt x="4603090" y="362102"/>
                  </a:lnTo>
                  <a:lnTo>
                    <a:pt x="0" y="3621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7696" b="-197696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193" name="TextBox 100">
              <a:extLst>
                <a:ext uri="{FF2B5EF4-FFF2-40B4-BE49-F238E27FC236}">
                  <a16:creationId xmlns:a16="http://schemas.microsoft.com/office/drawing/2014/main" id="{03224D77-843E-657E-D46E-C96D6EA9029B}"/>
                </a:ext>
              </a:extLst>
            </p:cNvPr>
            <p:cNvSpPr txBox="1"/>
            <p:nvPr/>
          </p:nvSpPr>
          <p:spPr>
            <a:xfrm>
              <a:off x="0" y="0"/>
              <a:ext cx="4603090" cy="36210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 dirty="0" err="1">
                  <a:solidFill>
                    <a:srgbClr val="334155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Ações</a:t>
              </a:r>
              <a:r>
                <a:rPr lang="en-US" sz="1500" b="1" dirty="0">
                  <a:solidFill>
                    <a:srgbClr val="334155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/</a:t>
              </a:r>
              <a:r>
                <a:rPr lang="en-US" sz="1500" b="1" dirty="0" err="1">
                  <a:solidFill>
                    <a:srgbClr val="334155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Programações</a:t>
              </a:r>
              <a:r>
                <a:rPr lang="en-US" sz="1500" b="1" dirty="0">
                  <a:solidFill>
                    <a:srgbClr val="334155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 </a:t>
              </a:r>
              <a:r>
                <a:rPr lang="en-US" sz="1500" b="1" dirty="0" err="1">
                  <a:solidFill>
                    <a:srgbClr val="334155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destaques</a:t>
              </a:r>
              <a:r>
                <a:rPr lang="en-US" sz="1500" b="1" dirty="0">
                  <a:solidFill>
                    <a:srgbClr val="334155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 da </a:t>
              </a:r>
              <a:r>
                <a:rPr lang="en-US" sz="1500" b="1" dirty="0" err="1">
                  <a:solidFill>
                    <a:srgbClr val="334155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semana</a:t>
              </a:r>
              <a:endParaRPr lang="en-US" sz="1500" b="1" dirty="0">
                <a:solidFill>
                  <a:srgbClr val="334155"/>
                </a:solidFill>
                <a:latin typeface="Open Sans Bold"/>
                <a:ea typeface="Open Sans Bold"/>
                <a:cs typeface="Open Sans Bold"/>
                <a:sym typeface="Open Sans Bold"/>
              </a:endParaRPr>
            </a:p>
          </p:txBody>
        </p:sp>
      </p:grpSp>
      <p:grpSp>
        <p:nvGrpSpPr>
          <p:cNvPr id="194" name="Group 101">
            <a:extLst>
              <a:ext uri="{FF2B5EF4-FFF2-40B4-BE49-F238E27FC236}">
                <a16:creationId xmlns:a16="http://schemas.microsoft.com/office/drawing/2014/main" id="{682E09CC-3D3D-59D7-C9A5-202798E228DD}"/>
              </a:ext>
            </a:extLst>
          </p:cNvPr>
          <p:cNvGrpSpPr/>
          <p:nvPr/>
        </p:nvGrpSpPr>
        <p:grpSpPr>
          <a:xfrm>
            <a:off x="12846294" y="6217512"/>
            <a:ext cx="5120843" cy="449988"/>
            <a:chOff x="-26039" y="0"/>
            <a:chExt cx="4629129" cy="325526"/>
          </a:xfrm>
        </p:grpSpPr>
        <p:sp>
          <p:nvSpPr>
            <p:cNvPr id="195" name="Freeform 102">
              <a:extLst>
                <a:ext uri="{FF2B5EF4-FFF2-40B4-BE49-F238E27FC236}">
                  <a16:creationId xmlns:a16="http://schemas.microsoft.com/office/drawing/2014/main" id="{AEADD9DB-9FC7-0237-E542-D4D9B19220D0}"/>
                </a:ext>
              </a:extLst>
            </p:cNvPr>
            <p:cNvSpPr/>
            <p:nvPr/>
          </p:nvSpPr>
          <p:spPr>
            <a:xfrm>
              <a:off x="-26039" y="0"/>
              <a:ext cx="4603090" cy="325526"/>
            </a:xfrm>
            <a:custGeom>
              <a:avLst/>
              <a:gdLst/>
              <a:ahLst/>
              <a:cxnLst/>
              <a:rect l="l" t="t" r="r" b="b"/>
              <a:pathLst>
                <a:path w="4603090" h="325526">
                  <a:moveTo>
                    <a:pt x="0" y="0"/>
                  </a:moveTo>
                  <a:lnTo>
                    <a:pt x="4603090" y="0"/>
                  </a:lnTo>
                  <a:lnTo>
                    <a:pt x="4603090" y="325526"/>
                  </a:lnTo>
                  <a:lnTo>
                    <a:pt x="0" y="3255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5527" b="-225527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196" name="TextBox 103">
              <a:extLst>
                <a:ext uri="{FF2B5EF4-FFF2-40B4-BE49-F238E27FC236}">
                  <a16:creationId xmlns:a16="http://schemas.microsoft.com/office/drawing/2014/main" id="{B3DFD80A-8B01-20CD-9749-BE51EFEFEC32}"/>
                </a:ext>
              </a:extLst>
            </p:cNvPr>
            <p:cNvSpPr txBox="1"/>
            <p:nvPr/>
          </p:nvSpPr>
          <p:spPr>
            <a:xfrm>
              <a:off x="0" y="0"/>
              <a:ext cx="4603090" cy="325526"/>
            </a:xfrm>
            <a:prstGeom prst="rect">
              <a:avLst/>
            </a:prstGeom>
          </p:spPr>
          <p:txBody>
            <a:bodyPr lIns="0" tIns="0" rIns="0" bIns="0" rtlCol="0" anchor="ctr"/>
            <a:lstStyle>
              <a:defPPr>
                <a:defRPr lang="en-US"/>
              </a:defPPr>
              <a:lvl1pPr>
                <a:lnSpc>
                  <a:spcPts val="1439"/>
                </a:lnSpc>
                <a:defRPr sz="1200">
                  <a:solidFill>
                    <a:srgbClr val="64748B"/>
                  </a:solidFill>
                  <a:latin typeface="Open Sans"/>
                  <a:ea typeface="Open Sans"/>
                  <a:cs typeface="Open Sans"/>
                </a:defRPr>
              </a:lvl1pPr>
            </a:lstStyle>
            <a:p>
              <a:r>
                <a:rPr lang="pt-BR" dirty="0"/>
                <a:t>Avaliação das situações excepcionais ocorridas na última semana</a:t>
              </a:r>
            </a:p>
            <a:p>
              <a:endParaRPr lang="en-US" dirty="0">
                <a:sym typeface="Open Sans"/>
              </a:endParaRPr>
            </a:p>
          </p:txBody>
        </p:sp>
      </p:grpSp>
      <p:sp>
        <p:nvSpPr>
          <p:cNvPr id="197" name="TextBox 67">
            <a:extLst>
              <a:ext uri="{FF2B5EF4-FFF2-40B4-BE49-F238E27FC236}">
                <a16:creationId xmlns:a16="http://schemas.microsoft.com/office/drawing/2014/main" id="{1550C902-C959-6779-28F4-B7FC87D8BE4E}"/>
              </a:ext>
            </a:extLst>
          </p:cNvPr>
          <p:cNvSpPr txBox="1"/>
          <p:nvPr/>
        </p:nvSpPr>
        <p:spPr>
          <a:xfrm>
            <a:off x="12893726" y="4152900"/>
            <a:ext cx="3979012" cy="244145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l">
              <a:lnSpc>
                <a:spcPts val="1439"/>
              </a:lnSpc>
            </a:pPr>
            <a:r>
              <a:rPr lang="en-US" sz="1200" dirty="0" err="1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Realinhamentos</a:t>
            </a:r>
            <a:r>
              <a:rPr lang="en-US" sz="1200" dirty="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200" dirty="0" err="1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necessários</a:t>
            </a:r>
            <a:endParaRPr lang="en-US" sz="1200" dirty="0">
              <a:solidFill>
                <a:srgbClr val="64748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99" name="Gráfico 198" descr="Conexões com preenchimento sólido">
            <a:extLst>
              <a:ext uri="{FF2B5EF4-FFF2-40B4-BE49-F238E27FC236}">
                <a16:creationId xmlns:a16="http://schemas.microsoft.com/office/drawing/2014/main" id="{9CE7D4D5-530F-1375-CB1B-08782FBA4E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2344400" y="1485900"/>
            <a:ext cx="625526" cy="62552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54B5C-C0FD-5CD9-8220-AA88D16A3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52D64E4E-4212-EA5F-4225-BF5F79740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945" y="3267635"/>
            <a:ext cx="16134111" cy="269182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61FCCAE0-B943-ED05-401F-6C2C9FB1EF6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417" b="41305"/>
          <a:stretch/>
        </p:blipFill>
        <p:spPr>
          <a:xfrm>
            <a:off x="5398828" y="5365177"/>
            <a:ext cx="7490342" cy="2034416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68DEA754-7AC1-0996-BD1E-182338B9246F}"/>
              </a:ext>
            </a:extLst>
          </p:cNvPr>
          <p:cNvSpPr/>
          <p:nvPr/>
        </p:nvSpPr>
        <p:spPr>
          <a:xfrm>
            <a:off x="0" y="-5480"/>
            <a:ext cx="257175" cy="10292478"/>
          </a:xfrm>
          <a:prstGeom prst="rect">
            <a:avLst/>
          </a:prstGeom>
          <a:solidFill>
            <a:srgbClr val="1F303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70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A4C4565-B125-A331-0E57-A661E695755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2842" y="8841056"/>
            <a:ext cx="4842317" cy="1163076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610200E3-4516-6E7D-0F27-B4628A583F8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7043" y="-4642126"/>
            <a:ext cx="9284252" cy="9284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958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3765</TotalTime>
  <Words>897</Words>
  <Application>Microsoft Office PowerPoint</Application>
  <PresentationFormat>Custom</PresentationFormat>
  <Paragraphs>142</Paragraphs>
  <Slides>17</Slides>
  <Notes>16</Notes>
  <HiddenSlides>1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Open Sans</vt:lpstr>
      <vt:lpstr>Aptos</vt:lpstr>
      <vt:lpstr>Open Sans Bold</vt:lpstr>
      <vt:lpstr>Montserrat</vt:lpstr>
      <vt:lpstr>Arial</vt:lpstr>
      <vt:lpstr>Montserrat Bold</vt:lpstr>
      <vt:lpstr>Calibri</vt:lpstr>
      <vt:lpstr>Montserrat Bold Italics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Reunião indicadores BEEA</dc:title>
  <dc:creator>Grupo Beea</dc:creator>
  <cp:lastModifiedBy>Socorro Montoia</cp:lastModifiedBy>
  <cp:revision>116</cp:revision>
  <cp:lastPrinted>2026-06-16T13:49:54Z</cp:lastPrinted>
  <dcterms:created xsi:type="dcterms:W3CDTF">2006-08-16T00:00:00Z</dcterms:created>
  <dcterms:modified xsi:type="dcterms:W3CDTF">2026-07-09T22:01:30Z</dcterms:modified>
  <dc:identifier>DAHEDfBAkGo</dc:identifier>
</cp:coreProperties>
</file>